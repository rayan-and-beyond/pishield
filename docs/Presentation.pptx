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78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9" r:id="rId18"/>
    <p:sldId id="280" r:id="rId19"/>
    <p:sldId id="281" r:id="rId20"/>
    <p:sldId id="271" r:id="rId21"/>
    <p:sldId id="272" r:id="rId22"/>
    <p:sldId id="282" r:id="rId23"/>
    <p:sldId id="273" r:id="rId24"/>
    <p:sldId id="283" r:id="rId25"/>
    <p:sldId id="284" r:id="rId26"/>
    <p:sldId id="274" r:id="rId27"/>
    <p:sldId id="275" r:id="rId28"/>
    <p:sldId id="285" r:id="rId29"/>
    <p:sldId id="276" r:id="rId30"/>
    <p:sldId id="277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27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A3CF72-9A48-463E-9294-10367483187E}" v="4" dt="2026-05-29T20:29:46.4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مهند عبدالله المحمود" userId="94fef8cc-ca1a-4bd2-a571-28b2cb1ae0a8" providerId="ADAL" clId="{585924D7-C62A-41F1-916A-3AEB6B3C765A}"/>
    <pc:docChg chg="undo custSel mod modSld">
      <pc:chgData name="مهند عبدالله المحمود" userId="94fef8cc-ca1a-4bd2-a571-28b2cb1ae0a8" providerId="ADAL" clId="{585924D7-C62A-41F1-916A-3AEB6B3C765A}" dt="2026-05-29T20:34:24.416" v="366" actId="14100"/>
      <pc:docMkLst>
        <pc:docMk/>
      </pc:docMkLst>
      <pc:sldChg chg="modSp mod">
        <pc:chgData name="مهند عبدالله المحمود" userId="94fef8cc-ca1a-4bd2-a571-28b2cb1ae0a8" providerId="ADAL" clId="{585924D7-C62A-41F1-916A-3AEB6B3C765A}" dt="2026-05-29T20:30:06.957" v="346" actId="1076"/>
        <pc:sldMkLst>
          <pc:docMk/>
          <pc:sldMk cId="0" sldId="256"/>
        </pc:sldMkLst>
        <pc:picChg chg="mod">
          <ac:chgData name="مهند عبدالله المحمود" userId="94fef8cc-ca1a-4bd2-a571-28b2cb1ae0a8" providerId="ADAL" clId="{585924D7-C62A-41F1-916A-3AEB6B3C765A}" dt="2026-05-29T20:30:06.957" v="346" actId="1076"/>
          <ac:picMkLst>
            <pc:docMk/>
            <pc:sldMk cId="0" sldId="256"/>
            <ac:picMk id="5" creationId="{00000000-0000-0000-0000-000000000000}"/>
          </ac:picMkLst>
        </pc:picChg>
      </pc:sldChg>
      <pc:sldChg chg="modSp mod">
        <pc:chgData name="مهند عبدالله المحمود" userId="94fef8cc-ca1a-4bd2-a571-28b2cb1ae0a8" providerId="ADAL" clId="{585924D7-C62A-41F1-916A-3AEB6B3C765A}" dt="2026-05-29T20:34:15.530" v="365" actId="14100"/>
        <pc:sldMkLst>
          <pc:docMk/>
          <pc:sldMk cId="0" sldId="269"/>
        </pc:sldMkLst>
        <pc:spChg chg="mod">
          <ac:chgData name="مهند عبدالله المحمود" userId="94fef8cc-ca1a-4bd2-a571-28b2cb1ae0a8" providerId="ADAL" clId="{585924D7-C62A-41F1-916A-3AEB6B3C765A}" dt="2026-05-29T20:34:15.530" v="365" actId="14100"/>
          <ac:spMkLst>
            <pc:docMk/>
            <pc:sldMk cId="0" sldId="269"/>
            <ac:spMk id="8" creationId="{00000000-0000-0000-0000-000000000000}"/>
          </ac:spMkLst>
        </pc:spChg>
      </pc:sldChg>
      <pc:sldChg chg="addSp delSp modSp mod">
        <pc:chgData name="مهند عبدالله المحمود" userId="94fef8cc-ca1a-4bd2-a571-28b2cb1ae0a8" providerId="ADAL" clId="{585924D7-C62A-41F1-916A-3AEB6B3C765A}" dt="2026-05-29T20:25:35.646" v="74" actId="122"/>
        <pc:sldMkLst>
          <pc:docMk/>
          <pc:sldMk cId="0" sldId="272"/>
        </pc:sldMkLst>
        <pc:spChg chg="del">
          <ac:chgData name="مهند عبدالله المحمود" userId="94fef8cc-ca1a-4bd2-a571-28b2cb1ae0a8" providerId="ADAL" clId="{585924D7-C62A-41F1-916A-3AEB6B3C765A}" dt="2026-05-29T20:25:22.374" v="72" actId="478"/>
          <ac:spMkLst>
            <pc:docMk/>
            <pc:sldMk cId="0" sldId="272"/>
            <ac:spMk id="10" creationId="{00000000-0000-0000-0000-000000000000}"/>
          </ac:spMkLst>
        </pc:spChg>
        <pc:spChg chg="del">
          <ac:chgData name="مهند عبدالله المحمود" userId="94fef8cc-ca1a-4bd2-a571-28b2cb1ae0a8" providerId="ADAL" clId="{585924D7-C62A-41F1-916A-3AEB6B3C765A}" dt="2026-05-29T20:25:22.374" v="72" actId="478"/>
          <ac:spMkLst>
            <pc:docMk/>
            <pc:sldMk cId="0" sldId="272"/>
            <ac:spMk id="15" creationId="{00000000-0000-0000-0000-000000000000}"/>
          </ac:spMkLst>
        </pc:spChg>
        <pc:spChg chg="del">
          <ac:chgData name="مهند عبدالله المحمود" userId="94fef8cc-ca1a-4bd2-a571-28b2cb1ae0a8" providerId="ADAL" clId="{585924D7-C62A-41F1-916A-3AEB6B3C765A}" dt="2026-05-29T20:25:22.374" v="72" actId="478"/>
          <ac:spMkLst>
            <pc:docMk/>
            <pc:sldMk cId="0" sldId="272"/>
            <ac:spMk id="18" creationId="{00000000-0000-0000-0000-000000000000}"/>
          </ac:spMkLst>
        </pc:spChg>
        <pc:spChg chg="del">
          <ac:chgData name="مهند عبدالله المحمود" userId="94fef8cc-ca1a-4bd2-a571-28b2cb1ae0a8" providerId="ADAL" clId="{585924D7-C62A-41F1-916A-3AEB6B3C765A}" dt="2026-05-29T20:25:22.374" v="72" actId="478"/>
          <ac:spMkLst>
            <pc:docMk/>
            <pc:sldMk cId="0" sldId="272"/>
            <ac:spMk id="19" creationId="{00000000-0000-0000-0000-000000000000}"/>
          </ac:spMkLst>
        </pc:spChg>
        <pc:spChg chg="del mod">
          <ac:chgData name="مهند عبدالله المحمود" userId="94fef8cc-ca1a-4bd2-a571-28b2cb1ae0a8" providerId="ADAL" clId="{585924D7-C62A-41F1-916A-3AEB6B3C765A}" dt="2026-05-29T20:25:22.374" v="72" actId="478"/>
          <ac:spMkLst>
            <pc:docMk/>
            <pc:sldMk cId="0" sldId="272"/>
            <ac:spMk id="20" creationId="{00000000-0000-0000-0000-000000000000}"/>
          </ac:spMkLst>
        </pc:spChg>
        <pc:spChg chg="del mod">
          <ac:chgData name="مهند عبدالله المحمود" userId="94fef8cc-ca1a-4bd2-a571-28b2cb1ae0a8" providerId="ADAL" clId="{585924D7-C62A-41F1-916A-3AEB6B3C765A}" dt="2026-05-29T20:25:22.374" v="72" actId="478"/>
          <ac:spMkLst>
            <pc:docMk/>
            <pc:sldMk cId="0" sldId="272"/>
            <ac:spMk id="21" creationId="{00000000-0000-0000-0000-000000000000}"/>
          </ac:spMkLst>
        </pc:spChg>
        <pc:spChg chg="del mod">
          <ac:chgData name="مهند عبدالله المحمود" userId="94fef8cc-ca1a-4bd2-a571-28b2cb1ae0a8" providerId="ADAL" clId="{585924D7-C62A-41F1-916A-3AEB6B3C765A}" dt="2026-05-29T20:25:22.374" v="72" actId="478"/>
          <ac:spMkLst>
            <pc:docMk/>
            <pc:sldMk cId="0" sldId="272"/>
            <ac:spMk id="24" creationId="{00000000-0000-0000-0000-000000000000}"/>
          </ac:spMkLst>
        </pc:spChg>
        <pc:spChg chg="add mod">
          <ac:chgData name="مهند عبدالله المحمود" userId="94fef8cc-ca1a-4bd2-a571-28b2cb1ae0a8" providerId="ADAL" clId="{585924D7-C62A-41F1-916A-3AEB6B3C765A}" dt="2026-05-29T20:25:22.693" v="73"/>
          <ac:spMkLst>
            <pc:docMk/>
            <pc:sldMk cId="0" sldId="272"/>
            <ac:spMk id="25" creationId="{B9A3F54E-F441-11B3-CB51-B09A6BA82C6A}"/>
          </ac:spMkLst>
        </pc:spChg>
        <pc:spChg chg="add mod">
          <ac:chgData name="مهند عبدالله المحمود" userId="94fef8cc-ca1a-4bd2-a571-28b2cb1ae0a8" providerId="ADAL" clId="{585924D7-C62A-41F1-916A-3AEB6B3C765A}" dt="2026-05-29T20:25:22.693" v="73"/>
          <ac:spMkLst>
            <pc:docMk/>
            <pc:sldMk cId="0" sldId="272"/>
            <ac:spMk id="27" creationId="{2752ACB0-C478-5C26-7FE5-80DB8416C76E}"/>
          </ac:spMkLst>
        </pc:spChg>
        <pc:spChg chg="del mod">
          <ac:chgData name="مهند عبدالله المحمود" userId="94fef8cc-ca1a-4bd2-a571-28b2cb1ae0a8" providerId="ADAL" clId="{585924D7-C62A-41F1-916A-3AEB6B3C765A}" dt="2026-05-29T20:25:22.374" v="72" actId="478"/>
          <ac:spMkLst>
            <pc:docMk/>
            <pc:sldMk cId="0" sldId="272"/>
            <ac:spMk id="31" creationId="{00000000-0000-0000-0000-000000000000}"/>
          </ac:spMkLst>
        </pc:spChg>
        <pc:spChg chg="del mod">
          <ac:chgData name="مهند عبدالله المحمود" userId="94fef8cc-ca1a-4bd2-a571-28b2cb1ae0a8" providerId="ADAL" clId="{585924D7-C62A-41F1-916A-3AEB6B3C765A}" dt="2026-05-29T20:25:22.374" v="72" actId="478"/>
          <ac:spMkLst>
            <pc:docMk/>
            <pc:sldMk cId="0" sldId="272"/>
            <ac:spMk id="33" creationId="{00000000-0000-0000-0000-000000000000}"/>
          </ac:spMkLst>
        </pc:spChg>
        <pc:spChg chg="del mod">
          <ac:chgData name="مهند عبدالله المحمود" userId="94fef8cc-ca1a-4bd2-a571-28b2cb1ae0a8" providerId="ADAL" clId="{585924D7-C62A-41F1-916A-3AEB6B3C765A}" dt="2026-05-29T20:25:22.374" v="72" actId="478"/>
          <ac:spMkLst>
            <pc:docMk/>
            <pc:sldMk cId="0" sldId="272"/>
            <ac:spMk id="35" creationId="{00000000-0000-0000-0000-000000000000}"/>
          </ac:spMkLst>
        </pc:spChg>
        <pc:spChg chg="add mod">
          <ac:chgData name="مهند عبدالله المحمود" userId="94fef8cc-ca1a-4bd2-a571-28b2cb1ae0a8" providerId="ADAL" clId="{585924D7-C62A-41F1-916A-3AEB6B3C765A}" dt="2026-05-29T20:25:22.693" v="73"/>
          <ac:spMkLst>
            <pc:docMk/>
            <pc:sldMk cId="0" sldId="272"/>
            <ac:spMk id="36" creationId="{F255A3FC-A7BC-F401-0305-EC26FE935904}"/>
          </ac:spMkLst>
        </pc:spChg>
        <pc:spChg chg="add mod">
          <ac:chgData name="مهند عبدالله المحمود" userId="94fef8cc-ca1a-4bd2-a571-28b2cb1ae0a8" providerId="ADAL" clId="{585924D7-C62A-41F1-916A-3AEB6B3C765A}" dt="2026-05-29T20:25:22.693" v="73"/>
          <ac:spMkLst>
            <pc:docMk/>
            <pc:sldMk cId="0" sldId="272"/>
            <ac:spMk id="43" creationId="{A3A8B922-0745-85C5-021E-A0E9CCFEF057}"/>
          </ac:spMkLst>
        </pc:spChg>
        <pc:spChg chg="add mod">
          <ac:chgData name="مهند عبدالله المحمود" userId="94fef8cc-ca1a-4bd2-a571-28b2cb1ae0a8" providerId="ADAL" clId="{585924D7-C62A-41F1-916A-3AEB6B3C765A}" dt="2026-05-29T20:25:22.693" v="73"/>
          <ac:spMkLst>
            <pc:docMk/>
            <pc:sldMk cId="0" sldId="272"/>
            <ac:spMk id="45" creationId="{1BF45172-1409-42DE-5F96-2E6D5DEFE3F5}"/>
          </ac:spMkLst>
        </pc:spChg>
        <pc:spChg chg="add mod">
          <ac:chgData name="مهند عبدالله المحمود" userId="94fef8cc-ca1a-4bd2-a571-28b2cb1ae0a8" providerId="ADAL" clId="{585924D7-C62A-41F1-916A-3AEB6B3C765A}" dt="2026-05-29T20:25:22.693" v="73"/>
          <ac:spMkLst>
            <pc:docMk/>
            <pc:sldMk cId="0" sldId="272"/>
            <ac:spMk id="46" creationId="{7B7A8645-74DF-0BB7-2A57-15AB651FF606}"/>
          </ac:spMkLst>
        </pc:spChg>
        <pc:spChg chg="add mod">
          <ac:chgData name="مهند عبدالله المحمود" userId="94fef8cc-ca1a-4bd2-a571-28b2cb1ae0a8" providerId="ADAL" clId="{585924D7-C62A-41F1-916A-3AEB6B3C765A}" dt="2026-05-29T20:25:22.693" v="73"/>
          <ac:spMkLst>
            <pc:docMk/>
            <pc:sldMk cId="0" sldId="272"/>
            <ac:spMk id="47" creationId="{D6859B44-C15C-E34A-718B-49AF8B1D9CC6}"/>
          </ac:spMkLst>
        </pc:spChg>
        <pc:spChg chg="add mod">
          <ac:chgData name="مهند عبدالله المحمود" userId="94fef8cc-ca1a-4bd2-a571-28b2cb1ae0a8" providerId="ADAL" clId="{585924D7-C62A-41F1-916A-3AEB6B3C765A}" dt="2026-05-29T20:25:22.693" v="73"/>
          <ac:spMkLst>
            <pc:docMk/>
            <pc:sldMk cId="0" sldId="272"/>
            <ac:spMk id="56" creationId="{0AC21DE8-B100-4D6A-B4EB-5C94E53F3639}"/>
          </ac:spMkLst>
        </pc:spChg>
        <pc:spChg chg="add mod">
          <ac:chgData name="مهند عبدالله المحمود" userId="94fef8cc-ca1a-4bd2-a571-28b2cb1ae0a8" providerId="ADAL" clId="{585924D7-C62A-41F1-916A-3AEB6B3C765A}" dt="2026-05-29T20:25:22.693" v="73"/>
          <ac:spMkLst>
            <pc:docMk/>
            <pc:sldMk cId="0" sldId="272"/>
            <ac:spMk id="59" creationId="{EBD01522-E4A3-D86C-C5D1-44A5800334CD}"/>
          </ac:spMkLst>
        </pc:spChg>
        <pc:spChg chg="add mod">
          <ac:chgData name="مهند عبدالله المحمود" userId="94fef8cc-ca1a-4bd2-a571-28b2cb1ae0a8" providerId="ADAL" clId="{585924D7-C62A-41F1-916A-3AEB6B3C765A}" dt="2026-05-29T20:25:35.646" v="74" actId="122"/>
          <ac:spMkLst>
            <pc:docMk/>
            <pc:sldMk cId="0" sldId="272"/>
            <ac:spMk id="64" creationId="{FF0A7F87-6B10-CFE1-764E-EFE492604E15}"/>
          </ac:spMkLst>
        </pc:spChg>
      </pc:sldChg>
      <pc:sldChg chg="modSp mod">
        <pc:chgData name="مهند عبدالله المحمود" userId="94fef8cc-ca1a-4bd2-a571-28b2cb1ae0a8" providerId="ADAL" clId="{585924D7-C62A-41F1-916A-3AEB6B3C765A}" dt="2026-05-29T20:33:58.105" v="364" actId="14100"/>
        <pc:sldMkLst>
          <pc:docMk/>
          <pc:sldMk cId="0" sldId="277"/>
        </pc:sldMkLst>
        <pc:picChg chg="mod">
          <ac:chgData name="مهند عبدالله المحمود" userId="94fef8cc-ca1a-4bd2-a571-28b2cb1ae0a8" providerId="ADAL" clId="{585924D7-C62A-41F1-916A-3AEB6B3C765A}" dt="2026-05-29T20:33:58.105" v="364" actId="14100"/>
          <ac:picMkLst>
            <pc:docMk/>
            <pc:sldMk cId="0" sldId="277"/>
            <ac:picMk id="6" creationId="{00000000-0000-0000-0000-000000000000}"/>
          </ac:picMkLst>
        </pc:picChg>
      </pc:sldChg>
      <pc:sldChg chg="modSp mod">
        <pc:chgData name="مهند عبدالله المحمود" userId="94fef8cc-ca1a-4bd2-a571-28b2cb1ae0a8" providerId="ADAL" clId="{585924D7-C62A-41F1-916A-3AEB6B3C765A}" dt="2026-05-29T20:34:24.416" v="366" actId="14100"/>
        <pc:sldMkLst>
          <pc:docMk/>
          <pc:sldMk cId="0" sldId="281"/>
        </pc:sldMkLst>
        <pc:spChg chg="mod">
          <ac:chgData name="مهند عبدالله المحمود" userId="94fef8cc-ca1a-4bd2-a571-28b2cb1ae0a8" providerId="ADAL" clId="{585924D7-C62A-41F1-916A-3AEB6B3C765A}" dt="2026-05-29T20:34:24.416" v="366" actId="14100"/>
          <ac:spMkLst>
            <pc:docMk/>
            <pc:sldMk cId="0" sldId="281"/>
            <ac:spMk id="8" creationId="{00000000-0000-0000-0000-000000000000}"/>
          </ac:spMkLst>
        </pc:spChg>
      </pc:sldChg>
      <pc:sldChg chg="modSp mod">
        <pc:chgData name="مهند عبدالله المحمود" userId="94fef8cc-ca1a-4bd2-a571-28b2cb1ae0a8" providerId="ADAL" clId="{585924D7-C62A-41F1-916A-3AEB6B3C765A}" dt="2026-05-29T20:27:50.984" v="337" actId="20577"/>
        <pc:sldMkLst>
          <pc:docMk/>
          <pc:sldMk cId="0" sldId="282"/>
        </pc:sldMkLst>
        <pc:spChg chg="mod">
          <ac:chgData name="مهند عبدالله المحمود" userId="94fef8cc-ca1a-4bd2-a571-28b2cb1ae0a8" providerId="ADAL" clId="{585924D7-C62A-41F1-916A-3AEB6B3C765A}" dt="2026-05-29T20:27:05.317" v="205" actId="20577"/>
          <ac:spMkLst>
            <pc:docMk/>
            <pc:sldMk cId="0" sldId="282"/>
            <ac:spMk id="10" creationId="{00000000-0000-0000-0000-000000000000}"/>
          </ac:spMkLst>
        </pc:spChg>
        <pc:spChg chg="mod">
          <ac:chgData name="مهند عبدالله المحمود" userId="94fef8cc-ca1a-4bd2-a571-28b2cb1ae0a8" providerId="ADAL" clId="{585924D7-C62A-41F1-916A-3AEB6B3C765A}" dt="2026-05-29T20:27:19.408" v="246" actId="20577"/>
          <ac:spMkLst>
            <pc:docMk/>
            <pc:sldMk cId="0" sldId="282"/>
            <ac:spMk id="12" creationId="{00000000-0000-0000-0000-000000000000}"/>
          </ac:spMkLst>
        </pc:spChg>
        <pc:spChg chg="mod">
          <ac:chgData name="مهند عبدالله المحمود" userId="94fef8cc-ca1a-4bd2-a571-28b2cb1ae0a8" providerId="ADAL" clId="{585924D7-C62A-41F1-916A-3AEB6B3C765A}" dt="2026-05-29T20:27:29.600" v="287" actId="20577"/>
          <ac:spMkLst>
            <pc:docMk/>
            <pc:sldMk cId="0" sldId="282"/>
            <ac:spMk id="14" creationId="{00000000-0000-0000-0000-000000000000}"/>
          </ac:spMkLst>
        </pc:spChg>
        <pc:spChg chg="mod">
          <ac:chgData name="مهند عبدالله المحمود" userId="94fef8cc-ca1a-4bd2-a571-28b2cb1ae0a8" providerId="ADAL" clId="{585924D7-C62A-41F1-916A-3AEB6B3C765A}" dt="2026-05-29T20:27:50.984" v="337" actId="20577"/>
          <ac:spMkLst>
            <pc:docMk/>
            <pc:sldMk cId="0" sldId="282"/>
            <ac:spMk id="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8197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49108" y="416052"/>
            <a:ext cx="2722098" cy="26603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57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522: Selected Topics in Computer Science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097280"/>
            <a:ext cx="6858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Securing LLM-Powered Code</a:t>
            </a:r>
            <a:endParaRPr lang="en-US" sz="3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Assistants Against Prompt</a:t>
            </a:r>
            <a:endParaRPr lang="en-US" sz="3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Injection Attacks Using</a:t>
            </a:r>
            <a:endParaRPr lang="en-US" sz="3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48640" y="3566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Presentation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 |  Team 7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4389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Dr. Yasir Alguwaifli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Imam Abdulrahman Bin Faisal University  •  College of Computer Science and Information Technology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Team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24688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54864" cy="10972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44475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280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Mohammed Alghaith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417320" y="15727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2220000240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37560" y="1097280"/>
            <a:ext cx="24688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337560" y="1097280"/>
            <a:ext cx="54864" cy="10972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520440" y="13258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9312" y="1444752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160520" y="1280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Muhannad Almahmoud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160520" y="15727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2210002240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080760" y="1097280"/>
            <a:ext cx="24688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080760" y="1097280"/>
            <a:ext cx="54864" cy="10972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263640" y="13258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444752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903720" y="1280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Sultan Alotaibi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903720" y="15727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2220007295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94360" y="2423160"/>
            <a:ext cx="24688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594360" y="2423160"/>
            <a:ext cx="54864" cy="10972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777240" y="26517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770632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417320" y="2606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Omar Alnasser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1417320" y="28986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2220001784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3337560" y="2423160"/>
            <a:ext cx="24688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3337560" y="2423160"/>
            <a:ext cx="54864" cy="10972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3520440" y="26517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9312" y="2770632"/>
            <a:ext cx="274320" cy="2743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160520" y="2606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Rayan Alhusennan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4160520" y="28986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2220000455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6080760" y="2423160"/>
            <a:ext cx="24688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6080760" y="2423160"/>
            <a:ext cx="54864" cy="10972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0"/>
          <p:cNvSpPr/>
          <p:nvPr/>
        </p:nvSpPr>
        <p:spPr>
          <a:xfrm>
            <a:off x="6263640" y="26517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2770632"/>
            <a:ext cx="274320" cy="27432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903720" y="2606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Abdullah Aladwani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6903720" y="28986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2220001989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548640" y="4389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 |  Team 7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" y="1097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91640" y="10789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91640" y="13533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Introduction, Motivation and Objectives</a:t>
            </a:r>
            <a:endParaRPr lang="en-US" sz="1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143000"/>
            <a:ext cx="365760" cy="3657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31520" y="178308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005840" y="1874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058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691640" y="18562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Literature Review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691640" y="21305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and Gap Analysis</a:t>
            </a:r>
            <a:endParaRPr lang="en-US" sz="11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920240"/>
            <a:ext cx="365760" cy="36576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731520" y="256032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1005840" y="26517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10058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1691640" y="26334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&amp; Methodology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1691640" y="29077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and Proposed Methodology</a:t>
            </a:r>
            <a:endParaRPr lang="en-US" sz="11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2697480"/>
            <a:ext cx="365760" cy="36576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731520" y="333756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1005840" y="34290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10058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1691640" y="34107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Evaluation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1691640" y="3685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Measures and Benchmark Results</a:t>
            </a:r>
            <a:endParaRPr lang="en-US" sz="11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3474720"/>
            <a:ext cx="365760" cy="36576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731520" y="411480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1005840" y="4206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10058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1691640" y="41879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32" name="Text 26"/>
          <p:cNvSpPr/>
          <p:nvPr/>
        </p:nvSpPr>
        <p:spPr>
          <a:xfrm>
            <a:off x="1691640" y="44622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and Future Work</a:t>
            </a:r>
            <a:endParaRPr lang="en-US" sz="110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0" y="425196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0" y="9144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371600" y="21031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2860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and Objectives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34747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639312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0" y="182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LLM-Powered Code Assistants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161288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005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Widespread Adoption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34440" y="13716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like ChatGPT, Claude Code, Gemini Code Assist, and GitHub Copilot are embedded into IDEs, CI/CD pipelines, and code review platforms.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228600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395728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240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Productivity Gains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234440" y="26060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assistants generate code, explain complex logic, detect bugs, and suggest refactoring strategies, dramatically accelerating development.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352044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630168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Security Risks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234440" y="38404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traditional tools, LLMs process natural language alongside code, making them susceptible to adversarial manipulation through crafted inputs.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400800" y="1005840"/>
            <a:ext cx="2286000" cy="347472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287194"/>
            <a:ext cx="548640" cy="5486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92240" y="1965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Threat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6492240" y="2468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86%</a:t>
            </a:r>
            <a:endParaRPr lang="en-US" sz="4200" dirty="0"/>
          </a:p>
        </p:txBody>
      </p:sp>
      <p:sp>
        <p:nvSpPr>
          <p:cNvPr id="21" name="Text 15"/>
          <p:cNvSpPr/>
          <p:nvPr/>
        </p:nvSpPr>
        <p:spPr>
          <a:xfrm>
            <a:off x="6492240" y="30632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success rate 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commercial LLM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(HouYi)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6492240" y="3794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31/36</a:t>
            </a:r>
            <a:endParaRPr lang="en-US" sz="2400" dirty="0"/>
          </a:p>
        </p:txBody>
      </p:sp>
      <p:sp>
        <p:nvSpPr>
          <p:cNvPr id="23" name="Text 17"/>
          <p:cNvSpPr/>
          <p:nvPr/>
        </p:nvSpPr>
        <p:spPr>
          <a:xfrm>
            <a:off x="6492240" y="41148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found vulnerable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0" y="182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93192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960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blur the line between data and instructions, exposing a new attack surface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evaluations report attack success rates above 80% against LLM apps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filters and static rules fail: injection patterns are diverse and evolving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Consequences: hardcoded credentials, key exfiltration, unauthorised command execution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3931920" cy="45720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960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Research Question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55448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lightweight, white-box-free classifier detect injections at the perimeter?</a:t>
            </a:r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must generalise across diverse, multilingual prompts</a:t>
            </a:r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must keep a low false-positive rate so legitimate developer prompts are not blocked</a:t>
            </a:r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must be transparent and computationally inexpensive to deploy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must operate without access to the underlying model internals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0" y="182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Prompt Injection?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38404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3840480" cy="54864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1280160"/>
            <a:ext cx="548640" cy="54864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399032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 Injection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20116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malicious user explicitly provides adversarial prompts to the LLM to override safety instructions, extract system prompts, or generate harmful code.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38404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54880" y="1005840"/>
            <a:ext cx="384048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029200" y="12801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072" y="1399032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76072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Indirect Injection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029200" y="20116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attacker hides malicious instructions within external content the LLM reads: code comments, documentation, issue trackers, or retrieved web pages.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48640" y="3520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Consequences of Successful Attacks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731520" y="3694176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with backdoors or hardcoded credentials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Exfiltration of API keys and proprietary source code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file modifications and command execution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compromises through poisoned outputs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0" y="182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Motivation &amp; Objectives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93192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960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adoption of LLM code assistants creates urgent security needs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is a new attack paradigm that heuristic defenses cannot address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detection learns semantic patterns for robust, adaptive defense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gap for practical detection systems tailored to code-assistant contexts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3931920" cy="45720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960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55448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compare </a:t>
            </a:r>
            <a:r>
              <a:rPr lang="en-US" sz="1100" dirty="0" err="1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SVM, and Random Forest classifiers for prompt injection detection</a:t>
            </a:r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TF-IDF and bag-of-words feature representations</a:t>
            </a:r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high detection accuracy with low false-positive rate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practical security guidelines for organizations using LLM code assistants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0" y="9144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371600" y="21031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Literature Review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2860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Studies and Findings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34747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639312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0" y="182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LR Summary: Prompt Injection Attacks [1]–[5]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2524138"/>
              </p:ext>
            </p:extLst>
          </p:nvPr>
        </p:nvGraphicFramePr>
        <p:xfrm>
          <a:off x="274320" y="731520"/>
          <a:ext cx="8595360" cy="329184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[1]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StruQ: Structured queries, fine-tuned LLM separating instructions/data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Improved resistance with minimal utility loss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special front-end &amp; LLM fine-tuning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[2]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BIPIA benchmark + boundary awareness defenses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White-box defense reduces ASR to ~0%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to indirect injections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[3]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HouYi: Black-box prompt injection framework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31/36 apps vulnerable, 86.1% ASR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Defenses only preliminarily discussed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[4]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Indirect injection taxonomy &amp; case studies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theft, worming, tool control demonstrated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standardized benchmark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[5]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ML/DL classifiers (RNN) with NLP vectorizations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RNN: 94.74% detection rate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scale limited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0" y="182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LR Summary: LLM Security Research [6]–[10]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031304"/>
              </p:ext>
            </p:extLst>
          </p:nvPr>
        </p:nvGraphicFramePr>
        <p:xfrm>
          <a:off x="274320" y="731520"/>
          <a:ext cx="8595360" cy="329184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[6]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Survey: taxonomy of jailbreak attacks &amp; defenses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attack types identified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original experiments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[7]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Empirical safety alignment analysis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Alignment concentrated in first tokens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Focuses on open-weight models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[8]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CyberSecEval 2: LLM security benchmark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 success across multiple models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Predefined attack templates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[9]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Comprehensive PI attack/defense review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Defenses only partially effective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Review-based, not empirical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[10]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PoisonBench: LLM data poisoning benchmark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poisoned data alters behavior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 models/tasks only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0" y="182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LR Summary: ML Detection Models [11]–[15]</a:t>
            </a:r>
            <a:endParaRPr lang="en-US" sz="2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376271"/>
              </p:ext>
            </p:extLst>
          </p:nvPr>
        </p:nvGraphicFramePr>
        <p:xfrm>
          <a:off x="274320" y="731520"/>
          <a:ext cx="8595360" cy="329184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[11]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Embeddings (OpenAI, GTE, MiniLM) + RF/LR classifiers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76.4%, F1 86.8%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false negatives, poor on novel attacks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[12]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ModernBERT for prompt injection detection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98.7% accuracy, 99.1% recall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retraining for new methods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[13]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Multilingual BERT + LR/SVM/RF/GNB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96.5% accuracy, 100% precision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dataset only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[14]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 Tracker (LLM behavior analysis)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AUROC 100% and 98%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internal LLM access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[15]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Fused features + MLP inside LLM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98% accuracy, 0.7% ASR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LLM internals, high overhead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0" y="182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Literature Review Outcome (Gap)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8046720" cy="137160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1430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051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Identified Research Gap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63040" y="14630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need for a practical prompt injection defense for code assistants that generalizes to unseen attacks, works under realistic constraints, and is evaluated using diverse datasets reflecting real developer scenarios.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56032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234440" y="2743200"/>
            <a:ext cx="502920" cy="502920"/>
          </a:xfrm>
          <a:prstGeom prst="ellipse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3312" y="286207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0080" y="3383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Generalizability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85800" y="3749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detect unseen, adaptive, and indirect injection strategies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2651760" y="256032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3337560" y="2743200"/>
            <a:ext cx="502920" cy="502920"/>
          </a:xfrm>
          <a:prstGeom prst="ellipse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6432" y="286207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743200" y="3383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Practical Deployment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2788920" y="3749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without internal LLM access (black-box compatible)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754880" y="256032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5440680" y="2743200"/>
            <a:ext cx="502920" cy="502920"/>
          </a:xfrm>
          <a:prstGeom prst="ellipse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9552" y="286207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846320" y="3383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Realistic Evaluation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892040" y="3749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diverse, large-scale benchmarks reflecting real dev tasks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6858000" y="256032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7543800" y="2743200"/>
            <a:ext cx="502920" cy="502920"/>
          </a:xfrm>
          <a:prstGeom prst="ellipse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2672" y="2862072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949440" y="3383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False Positives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6995160" y="3749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coding prompts must not be incorrectly flagged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0" y="9144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&amp; Methodology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828800" y="2926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Features, and Classification Pipeline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34747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639312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0" y="182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Methodology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Dataset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937260"/>
            <a:ext cx="502920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914400"/>
            <a:ext cx="54864" cy="329184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051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Prompt-Injections-Benchmark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3545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(rogue-security)  •  CC-BY-NC-4.0  •  migrated QualiFire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645920"/>
            <a:ext cx="4480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plain-text prompts (English with a substantial German subset)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classification: benign vs. prompt injection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diverse attack types: jailbreaks, instruction overrides, indirect payloads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Mildly imbalanced 1.50 : 1 (benign : injection); treated by reweighting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70/30 split: 3,500 train (5-fold CV) / 1,500 held-out test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914400"/>
            <a:ext cx="27432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26480" y="960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5,000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126480" y="13258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Prompts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0" y="1737360"/>
            <a:ext cx="27432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26480" y="1783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 / 30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26480" y="21488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– Test Split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0" y="2560320"/>
            <a:ext cx="27432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26480" y="2606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5-Fold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26480" y="29718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Strategy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43600" y="3383280"/>
            <a:ext cx="27432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26480" y="3429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1.50 : 1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126480" y="37947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Ratio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0" y="182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Methodology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Proposed Methodology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005840"/>
            <a:ext cx="137160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005840"/>
            <a:ext cx="137160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97280" y="11887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580" y="1307592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18288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Collection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23774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5,000-prompt public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benchmark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057400" y="2057400"/>
            <a:ext cx="22860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286000" y="1005840"/>
            <a:ext cx="137160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286000" y="1005840"/>
            <a:ext cx="1371600" cy="54864"/>
          </a:xfrm>
          <a:prstGeom prst="rect">
            <a:avLst/>
          </a:prstGeom>
          <a:solidFill>
            <a:srgbClr val="009B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697480" y="1188720"/>
            <a:ext cx="548640" cy="548640"/>
          </a:xfrm>
          <a:prstGeom prst="ellipse">
            <a:avLst/>
          </a:prstGeom>
          <a:solidFill>
            <a:srgbClr val="009B7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1780" y="1307592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331720" y="18288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331720" y="23774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cleaning,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reweighting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3657600" y="2057400"/>
            <a:ext cx="22860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3886200" y="1005840"/>
            <a:ext cx="137160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3886200" y="1005840"/>
            <a:ext cx="137160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4297680" y="11887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1980" y="1307592"/>
            <a:ext cx="320040" cy="3200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931920" y="18288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3931920" y="23774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TF-IDF, Bag-of-Words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5257800" y="2057400"/>
            <a:ext cx="22860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5486400" y="1005840"/>
            <a:ext cx="137160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5486400" y="1005840"/>
            <a:ext cx="1371600" cy="54864"/>
          </a:xfrm>
          <a:prstGeom prst="rect">
            <a:avLst/>
          </a:prstGeom>
          <a:solidFill>
            <a:srgbClr val="009B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5897880" y="1188720"/>
            <a:ext cx="548640" cy="548640"/>
          </a:xfrm>
          <a:prstGeom prst="ellipse">
            <a:avLst/>
          </a:prstGeom>
          <a:solidFill>
            <a:srgbClr val="009B7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2180" y="1307592"/>
            <a:ext cx="320040" cy="32004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532120" y="18288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Models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5532120" y="23774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 err="1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9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SVM (RBF), Random Forest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6858000" y="2057400"/>
            <a:ext cx="22860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7086600" y="1005840"/>
            <a:ext cx="137160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8"/>
          <p:cNvSpPr/>
          <p:nvPr/>
        </p:nvSpPr>
        <p:spPr>
          <a:xfrm>
            <a:off x="7086600" y="1005840"/>
            <a:ext cx="137160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7498080" y="11887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2380" y="1307592"/>
            <a:ext cx="320040" cy="32004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132320" y="18288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7132320" y="23774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CV, Accuracy, F1, ROC-AUC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548640" y="3383280"/>
            <a:ext cx="8046720" cy="109728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3611880"/>
            <a:ext cx="320040" cy="32004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1325880" y="35204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white-box-free pipeline: classical detectors at the assistant perimeter</a:t>
            </a:r>
            <a:endParaRPr lang="en-US" sz="1200" dirty="0"/>
          </a:p>
        </p:txBody>
      </p:sp>
      <p:sp>
        <p:nvSpPr>
          <p:cNvPr id="42" name="Text 34"/>
          <p:cNvSpPr/>
          <p:nvPr/>
        </p:nvSpPr>
        <p:spPr>
          <a:xfrm>
            <a:off x="1325880" y="384048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is wrapped in a scikit-learn pipeline (Vectoriser → optional sampler → classifier) with a fixed seed for full reproducibility. We compare gradient boosting (</a:t>
            </a:r>
            <a:r>
              <a:rPr lang="en-US" sz="9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kernel-based SVM-RBF, and Random Forest, requiring no access to model internals.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0" y="182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Methodology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Preprocessing &amp; Feature Engineering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38404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3840480" cy="54864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1280160"/>
            <a:ext cx="548640" cy="54864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1399032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Conservative Preprocessing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20116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NFKC unicode normalisation removes homoglyphs and zero-width bypass tricks; whitespace is collapsed and text is lowercased. Stop-words are deliberately KEPT, since injection signatures live in function words like “ignore the”.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38404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54880" y="1005840"/>
            <a:ext cx="384048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029200" y="12801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72" y="1399032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76072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Extraction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029200" y="20116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(primary) vs Bag-of-Words (baseline). Unigrams + bigrams capture phrases like “ignore previous”; min_df = 2, max_df = 0.95, max 20,000 features, with sublinear TF scaling and L2 normalisation.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48640" y="3520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Design Choices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731520" y="3694176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Signature-preserving cleaning keeps the very phrases the detectors must recognise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on (text, label) prevents metric inflation common in PI corpora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 range (1, 2) captures short imperative role-override phrases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explicit chi-squared selection: vectoriser pruning + tree splits handle it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0" y="182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Methodology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 Models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38404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3840480" cy="54864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1280160"/>
            <a:ext cx="548640" cy="54864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1399032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SVM (RBF kernel)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20116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Maximum-margin separator with an RBF kernel. Generalises well in high-dimensional sparse TF-IDF space and captures phrase-level similarity. class_weight = balanced rescales the per-class penalty by inverse frequency.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38404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54880" y="1005840"/>
            <a:ext cx="384048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029200" y="12801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72" y="1399032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76072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029200" y="20116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decorrelated decision trees with bagging and feature subsampling. Impurity-based splits handle correlated bigrams and yield directly interpretable feature importances, a cheap form of explainable AI.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48640" y="3520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XGBoost (Extreme Gradient Boosting)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731520" y="3694176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Regularised additive ensemble of regression trees using second-order gradients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baseline for sparse text; scale_pos_weight gives a distinct imbalance treatment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tree method (tree_method = hist) for fast training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wrapped in a pipeline (Vectoriser → sampler → classifier) to prevent leakage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0" y="182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Methodology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Experimental Setup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937260"/>
            <a:ext cx="502920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914400"/>
            <a:ext cx="54864" cy="329184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051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Tools, Protocol &amp; Optimisation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30948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Python • fixed random seed = 42 (fully reproducible)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645920"/>
            <a:ext cx="4480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1.3 (SVM, RF), xgboost 1.7, imbalanced-learn 0.11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3,500-prompt train file used for fitting + 5-fold stratified CV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1,500-prompt held-out test used ONCE, after hyperparameter selection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scored by injection-class F1 (the operationally meaningful metric)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Inverse-frequency class reweighting adopted over SMOTE oversampling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914400"/>
            <a:ext cx="27432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26480" y="960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 = 4.0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126480" y="13258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SVM-RBF, γ = 0.5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0" y="1737360"/>
            <a:ext cx="27432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26480" y="1783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26480" y="21488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/ XGB n_estimators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0" y="2560320"/>
            <a:ext cx="27432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26480" y="2606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5-Fold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26480" y="29718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Cross-Validation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43600" y="3383280"/>
            <a:ext cx="27432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26480" y="3429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0.856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126480" y="37947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CV F1 (SVM-RBF)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0" y="9144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Evaluation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828800" y="2926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Measures and Benchmark Results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34747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639312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0">
            <a:extLst>
              <a:ext uri="{FF2B5EF4-FFF2-40B4-BE49-F238E27FC236}">
                <a16:creationId xmlns:a16="http://schemas.microsoft.com/office/drawing/2014/main" id="{B9A3F54E-F441-11B3-CB51-B09A6BA82C6A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94A05A42-F733-4EF6-E6B2-4FA1CF33BA40}"/>
              </a:ext>
            </a:extLst>
          </p:cNvPr>
          <p:cNvSpPr/>
          <p:nvPr/>
        </p:nvSpPr>
        <p:spPr>
          <a:xfrm>
            <a:off x="6583680" y="182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</a:t>
            </a:r>
            <a:endParaRPr lang="en-US" sz="1000" dirty="0"/>
          </a:p>
        </p:txBody>
      </p:sp>
      <p:sp>
        <p:nvSpPr>
          <p:cNvPr id="27" name="Text 2">
            <a:extLst>
              <a:ext uri="{FF2B5EF4-FFF2-40B4-BE49-F238E27FC236}">
                <a16:creationId xmlns:a16="http://schemas.microsoft.com/office/drawing/2014/main" id="{2752ACB0-C478-5C26-7FE5-80DB8416C76E}"/>
              </a:ext>
            </a:extLst>
          </p:cNvPr>
          <p:cNvSpPr/>
          <p:nvPr/>
        </p:nvSpPr>
        <p:spPr>
          <a:xfrm>
            <a:off x="54864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 Measures</a:t>
            </a:r>
            <a:endParaRPr lang="en-US" sz="2800" dirty="0"/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D147184B-F0F1-5643-E472-DAB496D3532C}"/>
              </a:ext>
            </a:extLst>
          </p:cNvPr>
          <p:cNvSpPr/>
          <p:nvPr/>
        </p:nvSpPr>
        <p:spPr>
          <a:xfrm>
            <a:off x="594360" y="914400"/>
            <a:ext cx="24688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4">
            <a:extLst>
              <a:ext uri="{FF2B5EF4-FFF2-40B4-BE49-F238E27FC236}">
                <a16:creationId xmlns:a16="http://schemas.microsoft.com/office/drawing/2014/main" id="{CACFCE46-523F-4B4A-6740-F09A6DC7D99D}"/>
              </a:ext>
            </a:extLst>
          </p:cNvPr>
          <p:cNvSpPr/>
          <p:nvPr/>
        </p:nvSpPr>
        <p:spPr>
          <a:xfrm>
            <a:off x="594360" y="914400"/>
            <a:ext cx="2468880" cy="457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F255A3FC-A7BC-F401-0305-EC26FE935904}"/>
              </a:ext>
            </a:extLst>
          </p:cNvPr>
          <p:cNvSpPr/>
          <p:nvPr/>
        </p:nvSpPr>
        <p:spPr>
          <a:xfrm>
            <a:off x="731520" y="1051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</a:t>
            </a:r>
            <a:endParaRPr lang="en-US" sz="1400" dirty="0"/>
          </a:p>
        </p:txBody>
      </p:sp>
      <p:sp>
        <p:nvSpPr>
          <p:cNvPr id="37" name="Text 6">
            <a:extLst>
              <a:ext uri="{FF2B5EF4-FFF2-40B4-BE49-F238E27FC236}">
                <a16:creationId xmlns:a16="http://schemas.microsoft.com/office/drawing/2014/main" id="{E07A2209-3995-D95B-433B-F009A092460D}"/>
              </a:ext>
            </a:extLst>
          </p:cNvPr>
          <p:cNvSpPr/>
          <p:nvPr/>
        </p:nvSpPr>
        <p:spPr>
          <a:xfrm>
            <a:off x="731520" y="1371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proportion of correct predictions</a:t>
            </a:r>
            <a:endParaRPr lang="en-US" sz="950" dirty="0"/>
          </a:p>
        </p:txBody>
      </p:sp>
      <p:sp>
        <p:nvSpPr>
          <p:cNvPr id="38" name="Text 7">
            <a:extLst>
              <a:ext uri="{FF2B5EF4-FFF2-40B4-BE49-F238E27FC236}">
                <a16:creationId xmlns:a16="http://schemas.microsoft.com/office/drawing/2014/main" id="{25F8D4C0-BA90-81BD-DA37-547828D48A20}"/>
              </a:ext>
            </a:extLst>
          </p:cNvPr>
          <p:cNvSpPr/>
          <p:nvPr/>
        </p:nvSpPr>
        <p:spPr>
          <a:xfrm>
            <a:off x="731520" y="1874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(TP+TN) / Total</a:t>
            </a:r>
            <a:endParaRPr lang="en-US" sz="1000" dirty="0"/>
          </a:p>
        </p:txBody>
      </p:sp>
      <p:sp>
        <p:nvSpPr>
          <p:cNvPr id="39" name="Shape 8">
            <a:extLst>
              <a:ext uri="{FF2B5EF4-FFF2-40B4-BE49-F238E27FC236}">
                <a16:creationId xmlns:a16="http://schemas.microsoft.com/office/drawing/2014/main" id="{3F32786E-AA91-005D-CDBC-862FCD1D7C8B}"/>
              </a:ext>
            </a:extLst>
          </p:cNvPr>
          <p:cNvSpPr/>
          <p:nvPr/>
        </p:nvSpPr>
        <p:spPr>
          <a:xfrm>
            <a:off x="3337560" y="914400"/>
            <a:ext cx="24688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9">
            <a:extLst>
              <a:ext uri="{FF2B5EF4-FFF2-40B4-BE49-F238E27FC236}">
                <a16:creationId xmlns:a16="http://schemas.microsoft.com/office/drawing/2014/main" id="{1DD2C72F-7384-49E3-F503-C1DC503DBD60}"/>
              </a:ext>
            </a:extLst>
          </p:cNvPr>
          <p:cNvSpPr/>
          <p:nvPr/>
        </p:nvSpPr>
        <p:spPr>
          <a:xfrm>
            <a:off x="3337560" y="914400"/>
            <a:ext cx="2468880" cy="457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2E259982-2ABC-4F8C-0AFF-F9FDC7FE8422}"/>
              </a:ext>
            </a:extLst>
          </p:cNvPr>
          <p:cNvSpPr/>
          <p:nvPr/>
        </p:nvSpPr>
        <p:spPr>
          <a:xfrm>
            <a:off x="3474720" y="1051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2FB2FC39-475C-C69C-F008-1FA30A2EE201}"/>
              </a:ext>
            </a:extLst>
          </p:cNvPr>
          <p:cNvSpPr/>
          <p:nvPr/>
        </p:nvSpPr>
        <p:spPr>
          <a:xfrm>
            <a:off x="3474720" y="1371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predicted attacks are real attacks</a:t>
            </a:r>
            <a:endParaRPr lang="en-US" sz="950" dirty="0"/>
          </a:p>
        </p:txBody>
      </p:sp>
      <p:sp>
        <p:nvSpPr>
          <p:cNvPr id="43" name="Text 12">
            <a:extLst>
              <a:ext uri="{FF2B5EF4-FFF2-40B4-BE49-F238E27FC236}">
                <a16:creationId xmlns:a16="http://schemas.microsoft.com/office/drawing/2014/main" id="{A3A8B922-0745-85C5-021E-A0E9CCFEF057}"/>
              </a:ext>
            </a:extLst>
          </p:cNvPr>
          <p:cNvSpPr/>
          <p:nvPr/>
        </p:nvSpPr>
        <p:spPr>
          <a:xfrm>
            <a:off x="3474720" y="1874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 / (TP+FP)</a:t>
            </a:r>
            <a:endParaRPr lang="en-US" sz="1000" dirty="0"/>
          </a:p>
        </p:txBody>
      </p:sp>
      <p:sp>
        <p:nvSpPr>
          <p:cNvPr id="44" name="Shape 13">
            <a:extLst>
              <a:ext uri="{FF2B5EF4-FFF2-40B4-BE49-F238E27FC236}">
                <a16:creationId xmlns:a16="http://schemas.microsoft.com/office/drawing/2014/main" id="{0293586F-3544-5451-14FF-985A4A95ACB0}"/>
              </a:ext>
            </a:extLst>
          </p:cNvPr>
          <p:cNvSpPr/>
          <p:nvPr/>
        </p:nvSpPr>
        <p:spPr>
          <a:xfrm>
            <a:off x="6080760" y="914400"/>
            <a:ext cx="24688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14">
            <a:extLst>
              <a:ext uri="{FF2B5EF4-FFF2-40B4-BE49-F238E27FC236}">
                <a16:creationId xmlns:a16="http://schemas.microsoft.com/office/drawing/2014/main" id="{1BF45172-1409-42DE-5F96-2E6D5DEFE3F5}"/>
              </a:ext>
            </a:extLst>
          </p:cNvPr>
          <p:cNvSpPr/>
          <p:nvPr/>
        </p:nvSpPr>
        <p:spPr>
          <a:xfrm>
            <a:off x="6080760" y="914400"/>
            <a:ext cx="2468880" cy="457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15">
            <a:extLst>
              <a:ext uri="{FF2B5EF4-FFF2-40B4-BE49-F238E27FC236}">
                <a16:creationId xmlns:a16="http://schemas.microsoft.com/office/drawing/2014/main" id="{7B7A8645-74DF-0BB7-2A57-15AB651FF606}"/>
              </a:ext>
            </a:extLst>
          </p:cNvPr>
          <p:cNvSpPr/>
          <p:nvPr/>
        </p:nvSpPr>
        <p:spPr>
          <a:xfrm>
            <a:off x="6217920" y="1051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Recall</a:t>
            </a:r>
            <a:endParaRPr lang="en-US" sz="1400" dirty="0"/>
          </a:p>
        </p:txBody>
      </p:sp>
      <p:sp>
        <p:nvSpPr>
          <p:cNvPr id="47" name="Text 16">
            <a:extLst>
              <a:ext uri="{FF2B5EF4-FFF2-40B4-BE49-F238E27FC236}">
                <a16:creationId xmlns:a16="http://schemas.microsoft.com/office/drawing/2014/main" id="{D6859B44-C15C-E34A-718B-49AF8B1D9CC6}"/>
              </a:ext>
            </a:extLst>
          </p:cNvPr>
          <p:cNvSpPr/>
          <p:nvPr/>
        </p:nvSpPr>
        <p:spPr>
          <a:xfrm>
            <a:off x="6217920" y="1371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actual attacks are detected</a:t>
            </a:r>
            <a:endParaRPr lang="en-US" sz="950" dirty="0"/>
          </a:p>
        </p:txBody>
      </p:sp>
      <p:sp>
        <p:nvSpPr>
          <p:cNvPr id="48" name="Text 17">
            <a:extLst>
              <a:ext uri="{FF2B5EF4-FFF2-40B4-BE49-F238E27FC236}">
                <a16:creationId xmlns:a16="http://schemas.microsoft.com/office/drawing/2014/main" id="{10412CEA-AF7B-3302-A99C-EEC8393A1B20}"/>
              </a:ext>
            </a:extLst>
          </p:cNvPr>
          <p:cNvSpPr/>
          <p:nvPr/>
        </p:nvSpPr>
        <p:spPr>
          <a:xfrm>
            <a:off x="6217920" y="1874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 / (TP+FN)</a:t>
            </a:r>
            <a:endParaRPr lang="en-US" sz="1000" dirty="0"/>
          </a:p>
        </p:txBody>
      </p:sp>
      <p:sp>
        <p:nvSpPr>
          <p:cNvPr id="49" name="Shape 18">
            <a:extLst>
              <a:ext uri="{FF2B5EF4-FFF2-40B4-BE49-F238E27FC236}">
                <a16:creationId xmlns:a16="http://schemas.microsoft.com/office/drawing/2014/main" id="{A917C39D-A68D-BDC2-5ABE-71BABA1C12AF}"/>
              </a:ext>
            </a:extLst>
          </p:cNvPr>
          <p:cNvSpPr/>
          <p:nvPr/>
        </p:nvSpPr>
        <p:spPr>
          <a:xfrm>
            <a:off x="594360" y="2514600"/>
            <a:ext cx="24688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19">
            <a:extLst>
              <a:ext uri="{FF2B5EF4-FFF2-40B4-BE49-F238E27FC236}">
                <a16:creationId xmlns:a16="http://schemas.microsoft.com/office/drawing/2014/main" id="{7696B5B8-3064-6240-153F-8CDE9E3931E4}"/>
              </a:ext>
            </a:extLst>
          </p:cNvPr>
          <p:cNvSpPr/>
          <p:nvPr/>
        </p:nvSpPr>
        <p:spPr>
          <a:xfrm>
            <a:off x="594360" y="2514600"/>
            <a:ext cx="2468880" cy="4572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20">
            <a:extLst>
              <a:ext uri="{FF2B5EF4-FFF2-40B4-BE49-F238E27FC236}">
                <a16:creationId xmlns:a16="http://schemas.microsoft.com/office/drawing/2014/main" id="{5BACD48E-74E7-07B3-871A-06F5F3326992}"/>
              </a:ext>
            </a:extLst>
          </p:cNvPr>
          <p:cNvSpPr/>
          <p:nvPr/>
        </p:nvSpPr>
        <p:spPr>
          <a:xfrm>
            <a:off x="731520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F1-Score</a:t>
            </a:r>
            <a:endParaRPr lang="en-US" sz="1400" dirty="0"/>
          </a:p>
        </p:txBody>
      </p:sp>
      <p:sp>
        <p:nvSpPr>
          <p:cNvPr id="52" name="Text 21">
            <a:extLst>
              <a:ext uri="{FF2B5EF4-FFF2-40B4-BE49-F238E27FC236}">
                <a16:creationId xmlns:a16="http://schemas.microsoft.com/office/drawing/2014/main" id="{CE1F14E9-3B80-BAA7-10CA-236F19B67361}"/>
              </a:ext>
            </a:extLst>
          </p:cNvPr>
          <p:cNvSpPr/>
          <p:nvPr/>
        </p:nvSpPr>
        <p:spPr>
          <a:xfrm>
            <a:off x="731520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precision and recall (primary metric)</a:t>
            </a:r>
            <a:endParaRPr lang="en-US" sz="950" dirty="0"/>
          </a:p>
        </p:txBody>
      </p:sp>
      <p:sp>
        <p:nvSpPr>
          <p:cNvPr id="53" name="Text 22">
            <a:extLst>
              <a:ext uri="{FF2B5EF4-FFF2-40B4-BE49-F238E27FC236}">
                <a16:creationId xmlns:a16="http://schemas.microsoft.com/office/drawing/2014/main" id="{A02265D0-3437-E767-F764-9478AD584541}"/>
              </a:ext>
            </a:extLst>
          </p:cNvPr>
          <p:cNvSpPr/>
          <p:nvPr/>
        </p:nvSpPr>
        <p:spPr>
          <a:xfrm>
            <a:off x="731520" y="3474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2×(P×R)/(P+R)</a:t>
            </a:r>
            <a:endParaRPr lang="en-US" sz="1000" dirty="0"/>
          </a:p>
        </p:txBody>
      </p:sp>
      <p:sp>
        <p:nvSpPr>
          <p:cNvPr id="54" name="Shape 23">
            <a:extLst>
              <a:ext uri="{FF2B5EF4-FFF2-40B4-BE49-F238E27FC236}">
                <a16:creationId xmlns:a16="http://schemas.microsoft.com/office/drawing/2014/main" id="{88E33A64-7A24-FB00-41A0-E86A1E2796FA}"/>
              </a:ext>
            </a:extLst>
          </p:cNvPr>
          <p:cNvSpPr/>
          <p:nvPr/>
        </p:nvSpPr>
        <p:spPr>
          <a:xfrm>
            <a:off x="3337560" y="2514600"/>
            <a:ext cx="24688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24">
            <a:extLst>
              <a:ext uri="{FF2B5EF4-FFF2-40B4-BE49-F238E27FC236}">
                <a16:creationId xmlns:a16="http://schemas.microsoft.com/office/drawing/2014/main" id="{4F2211B9-CDB9-B4C2-9A27-3D664A79BCF2}"/>
              </a:ext>
            </a:extLst>
          </p:cNvPr>
          <p:cNvSpPr/>
          <p:nvPr/>
        </p:nvSpPr>
        <p:spPr>
          <a:xfrm>
            <a:off x="3337560" y="2514600"/>
            <a:ext cx="2468880" cy="457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25">
            <a:extLst>
              <a:ext uri="{FF2B5EF4-FFF2-40B4-BE49-F238E27FC236}">
                <a16:creationId xmlns:a16="http://schemas.microsoft.com/office/drawing/2014/main" id="{0AC21DE8-B100-4D6A-B4EB-5C94E53F3639}"/>
              </a:ext>
            </a:extLst>
          </p:cNvPr>
          <p:cNvSpPr/>
          <p:nvPr/>
        </p:nvSpPr>
        <p:spPr>
          <a:xfrm>
            <a:off x="3474720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AUC-ROC</a:t>
            </a:r>
            <a:endParaRPr lang="en-US" sz="1400" dirty="0"/>
          </a:p>
        </p:txBody>
      </p:sp>
      <p:sp>
        <p:nvSpPr>
          <p:cNvPr id="57" name="Text 26">
            <a:extLst>
              <a:ext uri="{FF2B5EF4-FFF2-40B4-BE49-F238E27FC236}">
                <a16:creationId xmlns:a16="http://schemas.microsoft.com/office/drawing/2014/main" id="{F086799A-90B5-829C-EBA9-6D2671F81C9A}"/>
              </a:ext>
            </a:extLst>
          </p:cNvPr>
          <p:cNvSpPr/>
          <p:nvPr/>
        </p:nvSpPr>
        <p:spPr>
          <a:xfrm>
            <a:off x="3474720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Threshold-independent classification quality</a:t>
            </a:r>
            <a:endParaRPr lang="en-US" sz="950" dirty="0"/>
          </a:p>
        </p:txBody>
      </p:sp>
      <p:sp>
        <p:nvSpPr>
          <p:cNvPr id="58" name="Text 27">
            <a:extLst>
              <a:ext uri="{FF2B5EF4-FFF2-40B4-BE49-F238E27FC236}">
                <a16:creationId xmlns:a16="http://schemas.microsoft.com/office/drawing/2014/main" id="{1A9234EA-524F-0E41-9FF7-C16FC8C6CBCC}"/>
              </a:ext>
            </a:extLst>
          </p:cNvPr>
          <p:cNvSpPr/>
          <p:nvPr/>
        </p:nvSpPr>
        <p:spPr>
          <a:xfrm>
            <a:off x="3474720" y="3474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 under ROC</a:t>
            </a:r>
            <a:endParaRPr lang="en-US" sz="1000" dirty="0"/>
          </a:p>
        </p:txBody>
      </p:sp>
      <p:sp>
        <p:nvSpPr>
          <p:cNvPr id="59" name="Shape 28">
            <a:extLst>
              <a:ext uri="{FF2B5EF4-FFF2-40B4-BE49-F238E27FC236}">
                <a16:creationId xmlns:a16="http://schemas.microsoft.com/office/drawing/2014/main" id="{EBD01522-E4A3-D86C-C5D1-44A5800334CD}"/>
              </a:ext>
            </a:extLst>
          </p:cNvPr>
          <p:cNvSpPr/>
          <p:nvPr/>
        </p:nvSpPr>
        <p:spPr>
          <a:xfrm>
            <a:off x="6080760" y="2514600"/>
            <a:ext cx="24688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Shape 29">
            <a:extLst>
              <a:ext uri="{FF2B5EF4-FFF2-40B4-BE49-F238E27FC236}">
                <a16:creationId xmlns:a16="http://schemas.microsoft.com/office/drawing/2014/main" id="{BA505CA9-BF2B-0048-5808-3947F23DB68D}"/>
              </a:ext>
            </a:extLst>
          </p:cNvPr>
          <p:cNvSpPr/>
          <p:nvPr/>
        </p:nvSpPr>
        <p:spPr>
          <a:xfrm>
            <a:off x="6080760" y="2514600"/>
            <a:ext cx="2468880" cy="457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30">
            <a:extLst>
              <a:ext uri="{FF2B5EF4-FFF2-40B4-BE49-F238E27FC236}">
                <a16:creationId xmlns:a16="http://schemas.microsoft.com/office/drawing/2014/main" id="{5E0DE3F2-5504-8B26-2430-92E6C9ACFE24}"/>
              </a:ext>
            </a:extLst>
          </p:cNvPr>
          <p:cNvSpPr/>
          <p:nvPr/>
        </p:nvSpPr>
        <p:spPr>
          <a:xfrm>
            <a:off x="6217920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Confusion Matrix</a:t>
            </a:r>
            <a:endParaRPr lang="en-US" sz="1400" dirty="0"/>
          </a:p>
        </p:txBody>
      </p:sp>
      <p:sp>
        <p:nvSpPr>
          <p:cNvPr id="62" name="Text 31">
            <a:extLst>
              <a:ext uri="{FF2B5EF4-FFF2-40B4-BE49-F238E27FC236}">
                <a16:creationId xmlns:a16="http://schemas.microsoft.com/office/drawing/2014/main" id="{BECAC131-91A4-F156-3C54-BC1FB828AB0E}"/>
              </a:ext>
            </a:extLst>
          </p:cNvPr>
          <p:cNvSpPr/>
          <p:nvPr/>
        </p:nvSpPr>
        <p:spPr>
          <a:xfrm>
            <a:off x="6217920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breakdown of TP, TN, FP, FN errors</a:t>
            </a:r>
            <a:endParaRPr lang="en-US" sz="950" dirty="0"/>
          </a:p>
        </p:txBody>
      </p:sp>
      <p:sp>
        <p:nvSpPr>
          <p:cNvPr id="63" name="Text 32">
            <a:extLst>
              <a:ext uri="{FF2B5EF4-FFF2-40B4-BE49-F238E27FC236}">
                <a16:creationId xmlns:a16="http://schemas.microsoft.com/office/drawing/2014/main" id="{80BEBDD7-A2A8-6165-293C-CC723F9D3BED}"/>
              </a:ext>
            </a:extLst>
          </p:cNvPr>
          <p:cNvSpPr/>
          <p:nvPr/>
        </p:nvSpPr>
        <p:spPr>
          <a:xfrm>
            <a:off x="6217920" y="3474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TP|FP|FN|TN</a:t>
            </a:r>
            <a:endParaRPr lang="en-US" sz="1000" dirty="0"/>
          </a:p>
        </p:txBody>
      </p:sp>
      <p:sp>
        <p:nvSpPr>
          <p:cNvPr id="64" name="Text 33">
            <a:extLst>
              <a:ext uri="{FF2B5EF4-FFF2-40B4-BE49-F238E27FC236}">
                <a16:creationId xmlns:a16="http://schemas.microsoft.com/office/drawing/2014/main" id="{FF0A7F87-6B10-CFE1-764E-EFE492604E15}"/>
              </a:ext>
            </a:extLst>
          </p:cNvPr>
          <p:cNvSpPr/>
          <p:nvPr/>
        </p:nvSpPr>
        <p:spPr>
          <a:xfrm>
            <a:off x="548640" y="4206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serves as the primary comparison metric across all classifiers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0" y="182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&amp; Discussion</a:t>
            </a:r>
            <a:endParaRPr lang="en-US" sz="2800" dirty="0"/>
          </a:p>
        </p:txBody>
      </p:sp>
      <p:sp>
        <p:nvSpPr>
          <p:cNvPr id="10" name="HdrRow"/>
          <p:cNvSpPr/>
          <p:nvPr/>
        </p:nvSpPr>
        <p:spPr>
          <a:xfrm>
            <a:off x="548640" y="960120"/>
            <a:ext cx="388620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9144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/>
              </a:rPr>
              <a:t>  Model               Acc.               F1               ROC-AUC</a:t>
            </a:r>
          </a:p>
        </p:txBody>
      </p:sp>
      <p:sp>
        <p:nvSpPr>
          <p:cNvPr id="12" name="Row1"/>
          <p:cNvSpPr/>
          <p:nvPr/>
        </p:nvSpPr>
        <p:spPr>
          <a:xfrm>
            <a:off x="548640" y="1371600"/>
            <a:ext cx="3886200" cy="411480"/>
          </a:xfrm>
          <a:prstGeom prst="rect">
            <a:avLst/>
          </a:prstGeom>
          <a:solidFill>
            <a:srgbClr val="DFF6F0"/>
          </a:solidFill>
          <a:ln/>
        </p:spPr>
        <p:txBody>
          <a:bodyPr wrap="square" lIns="9144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/>
              </a:rPr>
              <a:t>SVM-RBF                 0.893                  0.869                      0.960</a:t>
            </a:r>
          </a:p>
        </p:txBody>
      </p:sp>
      <p:sp>
        <p:nvSpPr>
          <p:cNvPr id="14" name="Row2"/>
          <p:cNvSpPr/>
          <p:nvPr/>
        </p:nvSpPr>
        <p:spPr>
          <a:xfrm>
            <a:off x="548640" y="1783080"/>
            <a:ext cx="38862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9144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3B4260"/>
                </a:solidFill>
                <a:latin typeface="Calibri"/>
              </a:rPr>
              <a:t>XGBoost</a:t>
            </a:r>
            <a:r>
              <a:rPr lang="en-US" sz="1100" dirty="0">
                <a:solidFill>
                  <a:srgbClr val="3B4260"/>
                </a:solidFill>
                <a:latin typeface="Calibri"/>
              </a:rPr>
              <a:t>                   0.865                  0.835                      0.943</a:t>
            </a:r>
          </a:p>
        </p:txBody>
      </p:sp>
      <p:sp>
        <p:nvSpPr>
          <p:cNvPr id="16" name="Row3"/>
          <p:cNvSpPr/>
          <p:nvPr/>
        </p:nvSpPr>
        <p:spPr>
          <a:xfrm>
            <a:off x="548640" y="2194560"/>
            <a:ext cx="38862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9144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260"/>
                </a:solidFill>
                <a:latin typeface="Calibri"/>
              </a:rPr>
              <a:t>Random Forest       0.838                  0.813                      0.932</a:t>
            </a:r>
          </a:p>
        </p:txBody>
      </p:sp>
      <p:sp>
        <p:nvSpPr>
          <p:cNvPr id="18" name="Disc"/>
          <p:cNvSpPr/>
          <p:nvPr/>
        </p:nvSpPr>
        <p:spPr>
          <a:xfrm>
            <a:off x="548640" y="2766060"/>
            <a:ext cx="3886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260"/>
                </a:solidFill>
                <a:latin typeface="Calibri"/>
              </a:rPr>
              <a:t>SVM-RBF is strongest overall: best accuracy, recall (0.882) and ROC-AUC.</a:t>
            </a:r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260"/>
                </a:solidFill>
                <a:latin typeface="Calibri"/>
              </a:rPr>
              <a:t>XGBoost is the most balanced (precision 0.820 / recall 0.850), fastest inference.</a:t>
            </a:r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260"/>
                </a:solidFill>
                <a:latin typeface="Calibri"/>
              </a:rPr>
              <a:t>Random Forest trades precision for recall, producing more false alarms.</a:t>
            </a:r>
          </a:p>
        </p:txBody>
      </p:sp>
      <p:sp>
        <p:nvSpPr>
          <p:cNvPr id="20" name="FigCard"/>
          <p:cNvSpPr/>
          <p:nvPr/>
        </p:nvSpPr>
        <p:spPr>
          <a:xfrm>
            <a:off x="4663440" y="960120"/>
            <a:ext cx="3931920" cy="2407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MetricBars" descr="metric bar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3749040" cy="2108460"/>
          </a:xfrm>
          <a:prstGeom prst="rect">
            <a:avLst/>
          </a:prstGeom>
        </p:spPr>
      </p:pic>
      <p:sp>
        <p:nvSpPr>
          <p:cNvPr id="22" name="FigCap"/>
          <p:cNvSpPr/>
          <p:nvPr/>
        </p:nvSpPr>
        <p:spPr>
          <a:xfrm>
            <a:off x="4663440" y="3383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2A0"/>
                </a:solidFill>
                <a:latin typeface="Calibri"/>
              </a:rPr>
              <a:t>Figure 5: Test-set performance per classifier.</a:t>
            </a:r>
          </a:p>
        </p:txBody>
      </p:sp>
      <p:sp>
        <p:nvSpPr>
          <p:cNvPr id="23" name="Take"/>
          <p:cNvSpPr/>
          <p:nvPr/>
        </p:nvSpPr>
        <p:spPr>
          <a:xfrm>
            <a:off x="4663440" y="379476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B4260"/>
                </a:solidFill>
                <a:latin typeface="Calibri"/>
              </a:rPr>
              <a:t>Evaluated on the 1,500-prompt held-out test set. All three detectors exceed 0.93 ROC-AUC, confirming lexical features carry strong injection signal.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0" y="182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A0"/>
                </a:solidFill>
                <a:latin typeface="Calibri"/>
              </a:rPr>
              <a:t>Performance Evaluation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/>
              </a:rPr>
              <a:t>Benchmark Comparison</a:t>
            </a:r>
          </a:p>
        </p:txBody>
      </p:sp>
      <p:sp>
        <p:nvSpPr>
          <p:cNvPr id="30" name="bg0"/>
          <p:cNvSpPr/>
          <p:nvPr/>
        </p:nvSpPr>
        <p:spPr>
          <a:xfrm>
            <a:off x="548640" y="1005840"/>
            <a:ext cx="4206240" cy="448056"/>
          </a:xfrm>
          <a:prstGeom prst="rect">
            <a:avLst/>
          </a:prstGeom>
          <a:solidFill>
            <a:srgbClr val="1E2761"/>
          </a:solidFill>
          <a:ln>
            <a:solidFill>
              <a:srgbClr val="E2E6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c0_0"/>
          <p:cNvSpPr/>
          <p:nvPr/>
        </p:nvSpPr>
        <p:spPr>
          <a:xfrm>
            <a:off x="548640" y="1005840"/>
            <a:ext cx="1280160" cy="448056"/>
          </a:xfrm>
          <a:prstGeom prst="rect">
            <a:avLst/>
          </a:prstGeom>
          <a:noFill/>
          <a:ln/>
        </p:spPr>
        <p:txBody>
          <a:bodyPr wrap="square" lIns="68580" tIns="0" rIns="4572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/>
              </a:rPr>
              <a:t>Study</a:t>
            </a:r>
          </a:p>
        </p:txBody>
      </p:sp>
      <p:sp>
        <p:nvSpPr>
          <p:cNvPr id="32" name="c0_1"/>
          <p:cNvSpPr/>
          <p:nvPr/>
        </p:nvSpPr>
        <p:spPr>
          <a:xfrm>
            <a:off x="1828800" y="1005840"/>
            <a:ext cx="1828800" cy="448056"/>
          </a:xfrm>
          <a:prstGeom prst="rect">
            <a:avLst/>
          </a:prstGeom>
          <a:noFill/>
          <a:ln/>
        </p:spPr>
        <p:txBody>
          <a:bodyPr wrap="square" lIns="68580" tIns="0" rIns="4572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/>
              </a:rPr>
              <a:t>Best Technique</a:t>
            </a:r>
          </a:p>
        </p:txBody>
      </p:sp>
      <p:sp>
        <p:nvSpPr>
          <p:cNvPr id="33" name="c0_2"/>
          <p:cNvSpPr/>
          <p:nvPr/>
        </p:nvSpPr>
        <p:spPr>
          <a:xfrm>
            <a:off x="3657600" y="1005840"/>
            <a:ext cx="548640" cy="448056"/>
          </a:xfrm>
          <a:prstGeom prst="rect">
            <a:avLst/>
          </a:prstGeom>
          <a:noFill/>
          <a:ln/>
        </p:spPr>
        <p:txBody>
          <a:bodyPr wrap="square" lIns="68580" tIns="0" rIns="4572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/>
              </a:rPr>
              <a:t>Acc.</a:t>
            </a:r>
          </a:p>
        </p:txBody>
      </p:sp>
      <p:sp>
        <p:nvSpPr>
          <p:cNvPr id="34" name="c0_3"/>
          <p:cNvSpPr/>
          <p:nvPr/>
        </p:nvSpPr>
        <p:spPr>
          <a:xfrm>
            <a:off x="4206240" y="1005840"/>
            <a:ext cx="548640" cy="448056"/>
          </a:xfrm>
          <a:prstGeom prst="rect">
            <a:avLst/>
          </a:prstGeom>
          <a:noFill/>
          <a:ln/>
        </p:spPr>
        <p:txBody>
          <a:bodyPr wrap="square" lIns="68580" tIns="0" rIns="4572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/>
              </a:rPr>
              <a:t>AUC</a:t>
            </a:r>
          </a:p>
        </p:txBody>
      </p:sp>
      <p:sp>
        <p:nvSpPr>
          <p:cNvPr id="35" name="bg1"/>
          <p:cNvSpPr/>
          <p:nvPr/>
        </p:nvSpPr>
        <p:spPr>
          <a:xfrm>
            <a:off x="548640" y="1453896"/>
            <a:ext cx="4206240" cy="448056"/>
          </a:xfrm>
          <a:prstGeom prst="rect">
            <a:avLst/>
          </a:prstGeom>
          <a:solidFill>
            <a:srgbClr val="FFFFFF"/>
          </a:solidFill>
          <a:ln>
            <a:solidFill>
              <a:srgbClr val="E2E6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c1_0"/>
          <p:cNvSpPr/>
          <p:nvPr/>
        </p:nvSpPr>
        <p:spPr>
          <a:xfrm>
            <a:off x="548640" y="1453896"/>
            <a:ext cx="1280160" cy="448056"/>
          </a:xfrm>
          <a:prstGeom prst="rect">
            <a:avLst/>
          </a:prstGeom>
          <a:noFill/>
          <a:ln/>
        </p:spPr>
        <p:txBody>
          <a:bodyPr wrap="square" lIns="68580" tIns="0" rIns="4572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B4260"/>
                </a:solidFill>
                <a:latin typeface="Calibri"/>
              </a:rPr>
              <a:t>Jain [5]</a:t>
            </a:r>
          </a:p>
        </p:txBody>
      </p:sp>
      <p:sp>
        <p:nvSpPr>
          <p:cNvPr id="37" name="c1_1"/>
          <p:cNvSpPr/>
          <p:nvPr/>
        </p:nvSpPr>
        <p:spPr>
          <a:xfrm>
            <a:off x="1828800" y="1453896"/>
            <a:ext cx="1828800" cy="448056"/>
          </a:xfrm>
          <a:prstGeom prst="rect">
            <a:avLst/>
          </a:prstGeom>
          <a:noFill/>
          <a:ln/>
        </p:spPr>
        <p:txBody>
          <a:bodyPr wrap="square" lIns="68580" tIns="0" rIns="4572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B4260"/>
                </a:solidFill>
                <a:latin typeface="Calibri"/>
              </a:rPr>
              <a:t>RNN + vectorizers</a:t>
            </a:r>
          </a:p>
        </p:txBody>
      </p:sp>
      <p:sp>
        <p:nvSpPr>
          <p:cNvPr id="38" name="c1_2"/>
          <p:cNvSpPr/>
          <p:nvPr/>
        </p:nvSpPr>
        <p:spPr>
          <a:xfrm>
            <a:off x="3657600" y="1453896"/>
            <a:ext cx="548640" cy="448056"/>
          </a:xfrm>
          <a:prstGeom prst="rect">
            <a:avLst/>
          </a:prstGeom>
          <a:noFill/>
          <a:ln/>
        </p:spPr>
        <p:txBody>
          <a:bodyPr wrap="square" lIns="68580" tIns="0" rIns="4572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B4260"/>
                </a:solidFill>
                <a:latin typeface="Calibri"/>
              </a:rPr>
              <a:t>–</a:t>
            </a:r>
          </a:p>
        </p:txBody>
      </p:sp>
      <p:sp>
        <p:nvSpPr>
          <p:cNvPr id="39" name="c1_3"/>
          <p:cNvSpPr/>
          <p:nvPr/>
        </p:nvSpPr>
        <p:spPr>
          <a:xfrm>
            <a:off x="4206240" y="1453896"/>
            <a:ext cx="548640" cy="448056"/>
          </a:xfrm>
          <a:prstGeom prst="rect">
            <a:avLst/>
          </a:prstGeom>
          <a:noFill/>
          <a:ln/>
        </p:spPr>
        <p:txBody>
          <a:bodyPr wrap="square" lIns="68580" tIns="0" rIns="4572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B4260"/>
                </a:solidFill>
                <a:latin typeface="Calibri"/>
              </a:rPr>
              <a:t>–</a:t>
            </a:r>
          </a:p>
        </p:txBody>
      </p:sp>
      <p:sp>
        <p:nvSpPr>
          <p:cNvPr id="40" name="bg2"/>
          <p:cNvSpPr/>
          <p:nvPr/>
        </p:nvSpPr>
        <p:spPr>
          <a:xfrm>
            <a:off x="548640" y="1901952"/>
            <a:ext cx="4206240" cy="448056"/>
          </a:xfrm>
          <a:prstGeom prst="rect">
            <a:avLst/>
          </a:prstGeom>
          <a:solidFill>
            <a:srgbClr val="FFFFFF"/>
          </a:solidFill>
          <a:ln>
            <a:solidFill>
              <a:srgbClr val="E2E6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c2_0"/>
          <p:cNvSpPr/>
          <p:nvPr/>
        </p:nvSpPr>
        <p:spPr>
          <a:xfrm>
            <a:off x="548640" y="1901952"/>
            <a:ext cx="1280160" cy="448056"/>
          </a:xfrm>
          <a:prstGeom prst="rect">
            <a:avLst/>
          </a:prstGeom>
          <a:noFill/>
          <a:ln/>
        </p:spPr>
        <p:txBody>
          <a:bodyPr wrap="square" lIns="68580" tIns="0" rIns="4572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B4260"/>
                </a:solidFill>
                <a:latin typeface="Calibri"/>
              </a:rPr>
              <a:t>Ayub [11]</a:t>
            </a:r>
          </a:p>
        </p:txBody>
      </p:sp>
      <p:sp>
        <p:nvSpPr>
          <p:cNvPr id="42" name="c2_1"/>
          <p:cNvSpPr/>
          <p:nvPr/>
        </p:nvSpPr>
        <p:spPr>
          <a:xfrm>
            <a:off x="1828800" y="1901952"/>
            <a:ext cx="1828800" cy="448056"/>
          </a:xfrm>
          <a:prstGeom prst="rect">
            <a:avLst/>
          </a:prstGeom>
          <a:noFill/>
          <a:ln/>
        </p:spPr>
        <p:txBody>
          <a:bodyPr wrap="square" lIns="68580" tIns="0" rIns="4572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B4260"/>
                </a:solidFill>
                <a:latin typeface="Calibri"/>
              </a:rPr>
              <a:t>OpenAI embed. + RF</a:t>
            </a:r>
          </a:p>
        </p:txBody>
      </p:sp>
      <p:sp>
        <p:nvSpPr>
          <p:cNvPr id="43" name="c2_2"/>
          <p:cNvSpPr/>
          <p:nvPr/>
        </p:nvSpPr>
        <p:spPr>
          <a:xfrm>
            <a:off x="3657600" y="1901952"/>
            <a:ext cx="548640" cy="448056"/>
          </a:xfrm>
          <a:prstGeom prst="rect">
            <a:avLst/>
          </a:prstGeom>
          <a:noFill/>
          <a:ln/>
        </p:spPr>
        <p:txBody>
          <a:bodyPr wrap="square" lIns="68580" tIns="0" rIns="4572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B4260"/>
                </a:solidFill>
                <a:latin typeface="Calibri"/>
              </a:rPr>
              <a:t>0.867</a:t>
            </a:r>
          </a:p>
        </p:txBody>
      </p:sp>
      <p:sp>
        <p:nvSpPr>
          <p:cNvPr id="44" name="c2_3"/>
          <p:cNvSpPr/>
          <p:nvPr/>
        </p:nvSpPr>
        <p:spPr>
          <a:xfrm>
            <a:off x="4206240" y="1901952"/>
            <a:ext cx="548640" cy="448056"/>
          </a:xfrm>
          <a:prstGeom prst="rect">
            <a:avLst/>
          </a:prstGeom>
          <a:noFill/>
          <a:ln/>
        </p:spPr>
        <p:txBody>
          <a:bodyPr wrap="square" lIns="68580" tIns="0" rIns="4572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B4260"/>
                </a:solidFill>
                <a:latin typeface="Calibri"/>
              </a:rPr>
              <a:t>0.764</a:t>
            </a:r>
          </a:p>
        </p:txBody>
      </p:sp>
      <p:sp>
        <p:nvSpPr>
          <p:cNvPr id="45" name="bg3"/>
          <p:cNvSpPr/>
          <p:nvPr/>
        </p:nvSpPr>
        <p:spPr>
          <a:xfrm>
            <a:off x="548640" y="2350008"/>
            <a:ext cx="4206240" cy="448056"/>
          </a:xfrm>
          <a:prstGeom prst="rect">
            <a:avLst/>
          </a:prstGeom>
          <a:solidFill>
            <a:srgbClr val="FFFFFF"/>
          </a:solidFill>
          <a:ln>
            <a:solidFill>
              <a:srgbClr val="E2E6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6" name="c3_0"/>
          <p:cNvSpPr/>
          <p:nvPr/>
        </p:nvSpPr>
        <p:spPr>
          <a:xfrm>
            <a:off x="548640" y="2350008"/>
            <a:ext cx="1280160" cy="448056"/>
          </a:xfrm>
          <a:prstGeom prst="rect">
            <a:avLst/>
          </a:prstGeom>
          <a:noFill/>
          <a:ln/>
        </p:spPr>
        <p:txBody>
          <a:bodyPr wrap="square" lIns="68580" tIns="0" rIns="4572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B4260"/>
                </a:solidFill>
                <a:latin typeface="Calibri"/>
              </a:rPr>
              <a:t>Rahman [12]</a:t>
            </a:r>
          </a:p>
        </p:txBody>
      </p:sp>
      <p:sp>
        <p:nvSpPr>
          <p:cNvPr id="47" name="c3_1"/>
          <p:cNvSpPr/>
          <p:nvPr/>
        </p:nvSpPr>
        <p:spPr>
          <a:xfrm>
            <a:off x="1828800" y="2350008"/>
            <a:ext cx="1828800" cy="448056"/>
          </a:xfrm>
          <a:prstGeom prst="rect">
            <a:avLst/>
          </a:prstGeom>
          <a:noFill/>
          <a:ln/>
        </p:spPr>
        <p:txBody>
          <a:bodyPr wrap="square" lIns="68580" tIns="0" rIns="4572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B4260"/>
                </a:solidFill>
                <a:latin typeface="Calibri"/>
              </a:rPr>
              <a:t>Multilingual BERT</a:t>
            </a:r>
          </a:p>
        </p:txBody>
      </p:sp>
      <p:sp>
        <p:nvSpPr>
          <p:cNvPr id="48" name="c3_2"/>
          <p:cNvSpPr/>
          <p:nvPr/>
        </p:nvSpPr>
        <p:spPr>
          <a:xfrm>
            <a:off x="3657600" y="2350008"/>
            <a:ext cx="548640" cy="448056"/>
          </a:xfrm>
          <a:prstGeom prst="rect">
            <a:avLst/>
          </a:prstGeom>
          <a:noFill/>
          <a:ln/>
        </p:spPr>
        <p:txBody>
          <a:bodyPr wrap="square" lIns="68580" tIns="0" rIns="4572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B4260"/>
                </a:solidFill>
                <a:latin typeface="Calibri"/>
              </a:rPr>
              <a:t>0.965</a:t>
            </a:r>
          </a:p>
        </p:txBody>
      </p:sp>
      <p:sp>
        <p:nvSpPr>
          <p:cNvPr id="49" name="c3_3"/>
          <p:cNvSpPr/>
          <p:nvPr/>
        </p:nvSpPr>
        <p:spPr>
          <a:xfrm>
            <a:off x="4206240" y="2350008"/>
            <a:ext cx="548640" cy="448056"/>
          </a:xfrm>
          <a:prstGeom prst="rect">
            <a:avLst/>
          </a:prstGeom>
          <a:noFill/>
          <a:ln/>
        </p:spPr>
        <p:txBody>
          <a:bodyPr wrap="square" lIns="68580" tIns="0" rIns="4572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B4260"/>
                </a:solidFill>
                <a:latin typeface="Calibri"/>
              </a:rPr>
              <a:t>0.965</a:t>
            </a:r>
          </a:p>
        </p:txBody>
      </p:sp>
      <p:sp>
        <p:nvSpPr>
          <p:cNvPr id="50" name="bg4"/>
          <p:cNvSpPr/>
          <p:nvPr/>
        </p:nvSpPr>
        <p:spPr>
          <a:xfrm>
            <a:off x="548640" y="2798064"/>
            <a:ext cx="4206240" cy="448056"/>
          </a:xfrm>
          <a:prstGeom prst="rect">
            <a:avLst/>
          </a:prstGeom>
          <a:solidFill>
            <a:srgbClr val="FFFFFF"/>
          </a:solidFill>
          <a:ln>
            <a:solidFill>
              <a:srgbClr val="E2E6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" name="c4_0"/>
          <p:cNvSpPr/>
          <p:nvPr/>
        </p:nvSpPr>
        <p:spPr>
          <a:xfrm>
            <a:off x="548640" y="2798064"/>
            <a:ext cx="1280160" cy="448056"/>
          </a:xfrm>
          <a:prstGeom prst="rect">
            <a:avLst/>
          </a:prstGeom>
          <a:noFill/>
          <a:ln/>
        </p:spPr>
        <p:txBody>
          <a:bodyPr wrap="square" lIns="68580" tIns="0" rIns="4572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B4260"/>
                </a:solidFill>
                <a:latin typeface="Calibri"/>
              </a:rPr>
              <a:t>Ivry [13]</a:t>
            </a:r>
          </a:p>
        </p:txBody>
      </p:sp>
      <p:sp>
        <p:nvSpPr>
          <p:cNvPr id="52" name="c4_1"/>
          <p:cNvSpPr/>
          <p:nvPr/>
        </p:nvSpPr>
        <p:spPr>
          <a:xfrm>
            <a:off x="1828800" y="2798064"/>
            <a:ext cx="1828800" cy="448056"/>
          </a:xfrm>
          <a:prstGeom prst="rect">
            <a:avLst/>
          </a:prstGeom>
          <a:noFill/>
          <a:ln/>
        </p:spPr>
        <p:txBody>
          <a:bodyPr wrap="square" lIns="68580" tIns="0" rIns="4572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B4260"/>
                </a:solidFill>
                <a:latin typeface="Calibri"/>
              </a:rPr>
              <a:t>ModernBERT (WB)</a:t>
            </a:r>
          </a:p>
        </p:txBody>
      </p:sp>
      <p:sp>
        <p:nvSpPr>
          <p:cNvPr id="53" name="c4_2"/>
          <p:cNvSpPr/>
          <p:nvPr/>
        </p:nvSpPr>
        <p:spPr>
          <a:xfrm>
            <a:off x="3657600" y="2798064"/>
            <a:ext cx="548640" cy="448056"/>
          </a:xfrm>
          <a:prstGeom prst="rect">
            <a:avLst/>
          </a:prstGeom>
          <a:noFill/>
          <a:ln/>
        </p:spPr>
        <p:txBody>
          <a:bodyPr wrap="square" lIns="68580" tIns="0" rIns="4572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B4260"/>
                </a:solidFill>
                <a:latin typeface="Calibri"/>
              </a:rPr>
              <a:t>0.987</a:t>
            </a:r>
          </a:p>
        </p:txBody>
      </p:sp>
      <p:sp>
        <p:nvSpPr>
          <p:cNvPr id="54" name="c4_3"/>
          <p:cNvSpPr/>
          <p:nvPr/>
        </p:nvSpPr>
        <p:spPr>
          <a:xfrm>
            <a:off x="4206240" y="2798064"/>
            <a:ext cx="548640" cy="448056"/>
          </a:xfrm>
          <a:prstGeom prst="rect">
            <a:avLst/>
          </a:prstGeom>
          <a:noFill/>
          <a:ln/>
        </p:spPr>
        <p:txBody>
          <a:bodyPr wrap="square" lIns="68580" tIns="0" rIns="4572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B4260"/>
                </a:solidFill>
                <a:latin typeface="Calibri"/>
              </a:rPr>
              <a:t>0.980</a:t>
            </a:r>
          </a:p>
        </p:txBody>
      </p:sp>
      <p:sp>
        <p:nvSpPr>
          <p:cNvPr id="55" name="bg5"/>
          <p:cNvSpPr/>
          <p:nvPr/>
        </p:nvSpPr>
        <p:spPr>
          <a:xfrm>
            <a:off x="548640" y="3246120"/>
            <a:ext cx="4206240" cy="448056"/>
          </a:xfrm>
          <a:prstGeom prst="rect">
            <a:avLst/>
          </a:prstGeom>
          <a:solidFill>
            <a:srgbClr val="FFFFFF"/>
          </a:solidFill>
          <a:ln>
            <a:solidFill>
              <a:srgbClr val="E2E6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6" name="c5_0"/>
          <p:cNvSpPr/>
          <p:nvPr/>
        </p:nvSpPr>
        <p:spPr>
          <a:xfrm>
            <a:off x="548640" y="3246120"/>
            <a:ext cx="1280160" cy="448056"/>
          </a:xfrm>
          <a:prstGeom prst="rect">
            <a:avLst/>
          </a:prstGeom>
          <a:noFill/>
          <a:ln/>
        </p:spPr>
        <p:txBody>
          <a:bodyPr wrap="square" lIns="68580" tIns="0" rIns="4572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B4260"/>
                </a:solidFill>
                <a:latin typeface="Calibri"/>
              </a:rPr>
              <a:t>Hung [14]</a:t>
            </a:r>
          </a:p>
        </p:txBody>
      </p:sp>
      <p:sp>
        <p:nvSpPr>
          <p:cNvPr id="57" name="c5_1"/>
          <p:cNvSpPr/>
          <p:nvPr/>
        </p:nvSpPr>
        <p:spPr>
          <a:xfrm>
            <a:off x="1828800" y="3246120"/>
            <a:ext cx="1828800" cy="448056"/>
          </a:xfrm>
          <a:prstGeom prst="rect">
            <a:avLst/>
          </a:prstGeom>
          <a:noFill/>
          <a:ln/>
        </p:spPr>
        <p:txBody>
          <a:bodyPr wrap="square" lIns="68580" tIns="0" rIns="4572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B4260"/>
                </a:solidFill>
                <a:latin typeface="Calibri"/>
              </a:rPr>
              <a:t>Attention Tracker (WB)</a:t>
            </a:r>
          </a:p>
        </p:txBody>
      </p:sp>
      <p:sp>
        <p:nvSpPr>
          <p:cNvPr id="58" name="c5_2"/>
          <p:cNvSpPr/>
          <p:nvPr/>
        </p:nvSpPr>
        <p:spPr>
          <a:xfrm>
            <a:off x="3657600" y="3246120"/>
            <a:ext cx="548640" cy="448056"/>
          </a:xfrm>
          <a:prstGeom prst="rect">
            <a:avLst/>
          </a:prstGeom>
          <a:noFill/>
          <a:ln/>
        </p:spPr>
        <p:txBody>
          <a:bodyPr wrap="square" lIns="68580" tIns="0" rIns="4572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B4260"/>
                </a:solidFill>
                <a:latin typeface="Calibri"/>
              </a:rPr>
              <a:t>–</a:t>
            </a:r>
          </a:p>
        </p:txBody>
      </p:sp>
      <p:sp>
        <p:nvSpPr>
          <p:cNvPr id="59" name="c5_3"/>
          <p:cNvSpPr/>
          <p:nvPr/>
        </p:nvSpPr>
        <p:spPr>
          <a:xfrm>
            <a:off x="4206240" y="3246120"/>
            <a:ext cx="548640" cy="448056"/>
          </a:xfrm>
          <a:prstGeom prst="rect">
            <a:avLst/>
          </a:prstGeom>
          <a:noFill/>
          <a:ln/>
        </p:spPr>
        <p:txBody>
          <a:bodyPr wrap="square" lIns="68580" tIns="0" rIns="4572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B4260"/>
                </a:solidFill>
                <a:latin typeface="Calibri"/>
              </a:rPr>
              <a:t>1.000</a:t>
            </a:r>
          </a:p>
        </p:txBody>
      </p:sp>
      <p:sp>
        <p:nvSpPr>
          <p:cNvPr id="60" name="bg6"/>
          <p:cNvSpPr/>
          <p:nvPr/>
        </p:nvSpPr>
        <p:spPr>
          <a:xfrm>
            <a:off x="548640" y="3694176"/>
            <a:ext cx="4206240" cy="448056"/>
          </a:xfrm>
          <a:prstGeom prst="rect">
            <a:avLst/>
          </a:prstGeom>
          <a:solidFill>
            <a:srgbClr val="DFF6F0"/>
          </a:solidFill>
          <a:ln>
            <a:solidFill>
              <a:srgbClr val="E2E6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1" name="c6_0"/>
          <p:cNvSpPr/>
          <p:nvPr/>
        </p:nvSpPr>
        <p:spPr>
          <a:xfrm>
            <a:off x="548640" y="3694176"/>
            <a:ext cx="1280160" cy="448056"/>
          </a:xfrm>
          <a:prstGeom prst="rect">
            <a:avLst/>
          </a:prstGeom>
          <a:noFill/>
          <a:ln/>
        </p:spPr>
        <p:txBody>
          <a:bodyPr wrap="square" lIns="68580" tIns="0" rIns="4572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2761"/>
                </a:solidFill>
                <a:latin typeface="Calibri"/>
              </a:rPr>
              <a:t>Ours: SVM</a:t>
            </a:r>
          </a:p>
        </p:txBody>
      </p:sp>
      <p:sp>
        <p:nvSpPr>
          <p:cNvPr id="62" name="c6_1"/>
          <p:cNvSpPr/>
          <p:nvPr/>
        </p:nvSpPr>
        <p:spPr>
          <a:xfrm>
            <a:off x="1828800" y="3694176"/>
            <a:ext cx="1828800" cy="448056"/>
          </a:xfrm>
          <a:prstGeom prst="rect">
            <a:avLst/>
          </a:prstGeom>
          <a:noFill/>
          <a:ln/>
        </p:spPr>
        <p:txBody>
          <a:bodyPr wrap="square" lIns="68580" tIns="0" rIns="4572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2761"/>
                </a:solidFill>
                <a:latin typeface="Calibri"/>
              </a:rPr>
              <a:t>SVM-RBF + TF-IDF</a:t>
            </a:r>
          </a:p>
        </p:txBody>
      </p:sp>
      <p:sp>
        <p:nvSpPr>
          <p:cNvPr id="63" name="c6_2"/>
          <p:cNvSpPr/>
          <p:nvPr/>
        </p:nvSpPr>
        <p:spPr>
          <a:xfrm>
            <a:off x="3657600" y="3694176"/>
            <a:ext cx="548640" cy="448056"/>
          </a:xfrm>
          <a:prstGeom prst="rect">
            <a:avLst/>
          </a:prstGeom>
          <a:noFill/>
          <a:ln/>
        </p:spPr>
        <p:txBody>
          <a:bodyPr wrap="square" lIns="68580" tIns="0" rIns="4572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/>
              </a:rPr>
              <a:t>0.893</a:t>
            </a:r>
          </a:p>
        </p:txBody>
      </p:sp>
      <p:sp>
        <p:nvSpPr>
          <p:cNvPr id="64" name="c6_3"/>
          <p:cNvSpPr/>
          <p:nvPr/>
        </p:nvSpPr>
        <p:spPr>
          <a:xfrm>
            <a:off x="4206240" y="3694176"/>
            <a:ext cx="548640" cy="448056"/>
          </a:xfrm>
          <a:prstGeom prst="rect">
            <a:avLst/>
          </a:prstGeom>
          <a:noFill/>
          <a:ln/>
        </p:spPr>
        <p:txBody>
          <a:bodyPr wrap="square" lIns="68580" tIns="0" rIns="4572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/>
              </a:rPr>
              <a:t>0.960</a:t>
            </a:r>
          </a:p>
        </p:txBody>
      </p:sp>
      <p:sp>
        <p:nvSpPr>
          <p:cNvPr id="80" name="RocCard"/>
          <p:cNvSpPr/>
          <p:nvPr/>
        </p:nvSpPr>
        <p:spPr>
          <a:xfrm>
            <a:off x="4754880" y="1005840"/>
            <a:ext cx="384048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1" name="ROC" descr="ro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5880" y="1097280"/>
            <a:ext cx="3078480" cy="2798618"/>
          </a:xfrm>
          <a:prstGeom prst="rect">
            <a:avLst/>
          </a:prstGeom>
        </p:spPr>
      </p:pic>
      <p:sp>
        <p:nvSpPr>
          <p:cNvPr id="82" name="RocCap"/>
          <p:cNvSpPr/>
          <p:nvPr/>
        </p:nvSpPr>
        <p:spPr>
          <a:xfrm>
            <a:off x="4754880" y="4023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2A0"/>
                </a:solidFill>
                <a:latin typeface="Calibri"/>
              </a:rPr>
              <a:t>Figure 6: ROC curves on the held-out test set.</a:t>
            </a:r>
          </a:p>
        </p:txBody>
      </p:sp>
      <p:sp>
        <p:nvSpPr>
          <p:cNvPr id="83" name="Note"/>
          <p:cNvSpPr/>
          <p:nvPr/>
        </p:nvSpPr>
        <p:spPr>
          <a:xfrm>
            <a:off x="548640" y="42976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8892A0"/>
                </a:solidFill>
                <a:latin typeface="Calibri"/>
              </a:rPr>
              <a:t>Comparability-tagged; WB = white-box. BERT-family and white-box detectors score higher but need model internals our threat model excludes.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0" y="182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A0"/>
                </a:solidFill>
                <a:latin typeface="Calibri"/>
              </a:rPr>
              <a:t>Performance Evaluation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/>
              </a:rPr>
              <a:t>Explainability / Feature Importance</a:t>
            </a:r>
          </a:p>
        </p:txBody>
      </p:sp>
      <p:sp>
        <p:nvSpPr>
          <p:cNvPr id="10" name="RFCard"/>
          <p:cNvSpPr/>
          <p:nvPr/>
        </p:nvSpPr>
        <p:spPr>
          <a:xfrm>
            <a:off x="548640" y="91440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RFfig" descr="rf importan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05840"/>
            <a:ext cx="3749040" cy="2213280"/>
          </a:xfrm>
          <a:prstGeom prst="rect">
            <a:avLst/>
          </a:prstGeom>
        </p:spPr>
      </p:pic>
      <p:sp>
        <p:nvSpPr>
          <p:cNvPr id="12" name="RFcap"/>
          <p:cNvSpPr/>
          <p:nvPr/>
        </p:nvSpPr>
        <p:spPr>
          <a:xfrm>
            <a:off x="548640" y="3291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2A0"/>
                </a:solidFill>
                <a:latin typeface="Calibri"/>
              </a:rPr>
              <a:t>Figure 4: Top features — Random Forest impurity.</a:t>
            </a:r>
          </a:p>
        </p:txBody>
      </p:sp>
      <p:sp>
        <p:nvSpPr>
          <p:cNvPr id="13" name="XGBCard"/>
          <p:cNvSpPr/>
          <p:nvPr/>
        </p:nvSpPr>
        <p:spPr>
          <a:xfrm>
            <a:off x="4663440" y="91440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XGBfig" descr="xgb importan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005840"/>
            <a:ext cx="3749040" cy="2213280"/>
          </a:xfrm>
          <a:prstGeom prst="rect">
            <a:avLst/>
          </a:prstGeom>
        </p:spPr>
      </p:pic>
      <p:sp>
        <p:nvSpPr>
          <p:cNvPr id="15" name="XGBcap"/>
          <p:cNvSpPr/>
          <p:nvPr/>
        </p:nvSpPr>
        <p:spPr>
          <a:xfrm>
            <a:off x="4663440" y="3291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2A0"/>
                </a:solidFill>
                <a:latin typeface="Calibri"/>
              </a:rPr>
              <a:t>Figure 8: Top features — XGBoost gain.</a:t>
            </a:r>
          </a:p>
        </p:txBody>
      </p:sp>
      <p:sp>
        <p:nvSpPr>
          <p:cNvPr id="16" name="Insight"/>
          <p:cNvSpPr/>
          <p:nvPr/>
        </p:nvSpPr>
        <p:spPr>
          <a:xfrm>
            <a:off x="548640" y="3886200"/>
            <a:ext cx="8046720" cy="100584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137160" tIns="68580" rIns="137160" bIns="6858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Trebuchet MS"/>
              </a:rPr>
              <a:t>Key insight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/>
              </a:rPr>
              <a:t>Both detectors rely on linguistic injection markers (“ignore”, “previous”, “instructions”, “you need”). This validates low-order n-grams, but also explains residual errors: an adaptive adversary could paraphrase these cues to evade lexical detection.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0" y="182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93192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960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 &amp; Data Limits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(bag-of-n-grams) features: an adaptive adversary who paraphrases markers could evade detection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benchmark of 5,000 prompts (English + German); not externally validated on other languages or domains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class imbalance limits how rare or sophisticated attack variants are represented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3931920" cy="45720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960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 Limits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55448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to three classical classifiers and two feature representations</a:t>
            </a:r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embeddings (BERT, ModernBERT) and deep architectures were not implemented</a:t>
            </a:r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prompt-level detection: pipeline was not deployed inside a live IDE / code assistant</a:t>
            </a:r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latency, integration cost, and developer false-positive impact remain unmeasured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0" y="9144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371600" y="21031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14400" y="34747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639312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0" y="182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 &amp; Key Findings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8229600" cy="109728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00584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is a critical threat to LLM code assistants. We framed detection as binary text classification at the assistant perimeter and compared three classical models on a 5,000-prompt benchmark. The SVM-RBF with TF-IDF was the strongest, reaching 89.3% accuracy, 0.869 injection-class F1, and 0.960 ROC-AUC.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2560320" cy="4572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68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2468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SVM-RBF Wins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" y="29260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overall: 89.3% accuracy, 0.869 F1, 0.960 ROC-AUC; beats RF and XGBoost on recall and discrimination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83280" y="228600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383280" y="2286000"/>
            <a:ext cx="2560320" cy="4572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246888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31920" y="2468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TF-IDF Best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566160" y="29260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outperformed Bag-of-Words for the margin-based SVM (0.856 vs 0.803 F1)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217920" y="228600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217920" y="2286000"/>
            <a:ext cx="2560320" cy="4572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46888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66560" y="2468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Deployable Defence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400800" y="29260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transparent, white-box-free first line of defence for code assistants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trades a few points of accuracy, versus embedding and white-box methods, for deployability, transparency, and very low computational cost.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0" y="182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8229600" cy="109728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00584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lexical detectors are a strong, deployable first line of defence. The natural next steps move from lexical cues toward semantic robustness, adversarial resilience, and real-world deployment inside developer tooling.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2560320" cy="4572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68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2468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Semantic Models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" y="29260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contextual embeddings (BERT, ModernBERT) and deep architectures to capture meaning beyond lexical cues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83280" y="228600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383280" y="2286000"/>
            <a:ext cx="2560320" cy="4572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46888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31920" y="2468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Adversarial Robustness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566160" y="29260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adversarial data augmentation and evaluate against adaptive, paraphrasing adversaries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217920" y="228600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217920" y="2286000"/>
            <a:ext cx="2560320" cy="4572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46888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66560" y="2468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Deployment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400800" y="29260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inside a live IDE / code assistant; expand to larger multilingual benchmarks for external validation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 semantically robust, externally validated detector proven in production developer workflows.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41148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spcAft>
                <a:spcPts val="400"/>
              </a:spcAft>
              <a:buNone/>
            </a:pPr>
            <a:r>
              <a:rPr lang="en-US" sz="105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Chen et al., "StruQ: Defending Against Prompt Injection," arXiv, 2024.</a:t>
            </a:r>
            <a:endParaRPr lang="en-US" sz="1050" dirty="0"/>
          </a:p>
          <a:p>
            <a:pPr marL="171450" indent="-171450">
              <a:spcAft>
                <a:spcPts val="400"/>
              </a:spcAft>
              <a:buNone/>
            </a:pPr>
            <a:r>
              <a:rPr lang="en-US" sz="105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Yi et al., "Benchmarking Indirect Prompt Injection Attacks on LLMs," KDD, 2024.</a:t>
            </a:r>
            <a:endParaRPr lang="en-US" sz="1050" dirty="0"/>
          </a:p>
          <a:p>
            <a:pPr marL="171450" indent="-171450">
              <a:spcAft>
                <a:spcPts val="400"/>
              </a:spcAft>
              <a:buNone/>
            </a:pPr>
            <a:r>
              <a:rPr lang="en-US" sz="105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Liu et al., "Prompt Injection Attack Against LLM-Integrated Apps," arXiv, 2023.</a:t>
            </a:r>
            <a:endParaRPr lang="en-US" sz="1050" dirty="0"/>
          </a:p>
          <a:p>
            <a:pPr marL="171450" indent="-171450">
              <a:spcAft>
                <a:spcPts val="400"/>
              </a:spcAft>
              <a:buNone/>
            </a:pPr>
            <a:r>
              <a:rPr lang="en-US" sz="105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Greshake et al., "Compromising LLM Apps with Indirect PI," AISec, 2023.</a:t>
            </a:r>
            <a:endParaRPr lang="en-US" sz="1050" dirty="0"/>
          </a:p>
          <a:p>
            <a:pPr marL="171450" indent="-171450">
              <a:spcAft>
                <a:spcPts val="400"/>
              </a:spcAft>
              <a:buNone/>
            </a:pPr>
            <a:r>
              <a:rPr lang="en-US" sz="105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Jain et al., "ML and DL Models on PI Classification," IRJMT, 2025.</a:t>
            </a:r>
            <a:endParaRPr lang="en-US" sz="1050" dirty="0"/>
          </a:p>
          <a:p>
            <a:pPr marL="171450" indent="-171450">
              <a:spcAft>
                <a:spcPts val="400"/>
              </a:spcAft>
              <a:buNone/>
            </a:pPr>
            <a:r>
              <a:rPr lang="en-US" sz="105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Yi et al., "Jailbreak Attacks and Defenses Against LLMs: A Survey," arXiv, 2024.</a:t>
            </a:r>
            <a:endParaRPr lang="en-US" sz="1050" dirty="0"/>
          </a:p>
          <a:p>
            <a:pPr marL="171450" indent="-171450">
              <a:spcAft>
                <a:spcPts val="400"/>
              </a:spcAft>
              <a:buNone/>
            </a:pPr>
            <a:r>
              <a:rPr lang="en-US" sz="105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Qi et al., "Safety Alignment Should Be More Than a Few Tokens Deep," arXiv, 2024.</a:t>
            </a:r>
            <a:endParaRPr lang="en-US" sz="1050" dirty="0"/>
          </a:p>
          <a:p>
            <a:pPr marL="171450" indent="-171450">
              <a:spcAft>
                <a:spcPts val="400"/>
              </a:spcAft>
              <a:buNone/>
            </a:pPr>
            <a:r>
              <a:rPr lang="en-US" sz="105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Bhatt et al., "CyberSecEval 2: Cybersecurity Evaluation for LLMs," arXiv, 2024.</a:t>
            </a:r>
            <a:endParaRPr lang="en-US" sz="1050" dirty="0"/>
          </a:p>
          <a:p>
            <a:pPr marL="171450" indent="-171450">
              <a:spcAft>
                <a:spcPts val="400"/>
              </a:spcAft>
              <a:buNone/>
            </a:pPr>
            <a:r>
              <a:rPr lang="en-US" sz="105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Mathew, "Security in LLMs: Review of PI Attacks and Defenses," J. AI, 2025.</a:t>
            </a:r>
            <a:endParaRPr lang="en-US" sz="1050" dirty="0"/>
          </a:p>
          <a:p>
            <a:pPr marL="171450" indent="-171450">
              <a:spcAft>
                <a:spcPts val="400"/>
              </a:spcAft>
              <a:buNone/>
            </a:pPr>
            <a:r>
              <a:rPr lang="en-US" sz="105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Fu et al., "PoisonBench: Assessing LLM Vulnerability to Data Poisoning," arXiv, 2024.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709160" y="731520"/>
            <a:ext cx="41148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spcAft>
                <a:spcPts val="400"/>
              </a:spcAft>
              <a:buNone/>
            </a:pPr>
            <a:r>
              <a:rPr lang="en-US" sz="105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Ayub &amp; Majumdar, "Embedding-Based Classifiers for PI Detection," EMNLP, 2024.</a:t>
            </a:r>
            <a:endParaRPr lang="en-US" sz="1050" dirty="0"/>
          </a:p>
          <a:p>
            <a:pPr marL="171450" indent="-171450">
              <a:spcAft>
                <a:spcPts val="400"/>
              </a:spcAft>
              <a:buNone/>
            </a:pPr>
            <a:r>
              <a:rPr lang="en-US" sz="105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Rahman et al., "Multilingual BERT for PI Detection," AIBThings, 2024.</a:t>
            </a:r>
            <a:endParaRPr lang="en-US" sz="1050" dirty="0"/>
          </a:p>
          <a:p>
            <a:pPr marL="171450" indent="-171450">
              <a:spcAft>
                <a:spcPts val="400"/>
              </a:spcAft>
              <a:buNone/>
            </a:pPr>
            <a:r>
              <a:rPr lang="en-US" sz="105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Ivry &amp; Nahum, "Sentinel: SOTA Model for PI Protection," arXiv, 2025.</a:t>
            </a:r>
            <a:endParaRPr lang="en-US" sz="1050" dirty="0"/>
          </a:p>
          <a:p>
            <a:pPr marL="171450" indent="-171450">
              <a:spcAft>
                <a:spcPts val="400"/>
              </a:spcAft>
              <a:buNone/>
            </a:pPr>
            <a:r>
              <a:rPr lang="en-US" sz="105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 Hung et al., "Attention Tracker: Detecting PI Attacks in LLMs," EMNLP, 2024.</a:t>
            </a:r>
            <a:endParaRPr lang="en-US" sz="1050" dirty="0"/>
          </a:p>
          <a:p>
            <a:pPr marL="171450" indent="-171450">
              <a:spcAft>
                <a:spcPts val="400"/>
              </a:spcAft>
              <a:buNone/>
            </a:pPr>
            <a:r>
              <a:rPr lang="en-US" sz="105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[15] Wen et al., "Defending Indirect PI by Instruction Detection," EMNLP Findings, 2025.</a:t>
            </a:r>
            <a:endParaRPr lang="en-US" sz="1050" dirty="0"/>
          </a:p>
          <a:p>
            <a:pPr marL="171450" indent="-171450">
              <a:spcAft>
                <a:spcPts val="400"/>
              </a:spcAft>
              <a:buNone/>
            </a:pPr>
            <a:r>
              <a:rPr lang="en-US" sz="105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[16] Chen &amp; Guestrin, "XGBoost: A Scalable Tree Boosting System," ACM SIGKDD, 2016.</a:t>
            </a:r>
            <a:endParaRPr lang="en-US" sz="1050" dirty="0"/>
          </a:p>
          <a:p>
            <a:pPr marL="171450" indent="-171450">
              <a:spcAft>
                <a:spcPts val="400"/>
              </a:spcAft>
              <a:buNone/>
            </a:pPr>
            <a:r>
              <a:rPr lang="en-US" sz="105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[17] Breiman, "Random Forests," Machine Learning, vol. 45, 2001.</a:t>
            </a:r>
            <a:endParaRPr lang="en-US" sz="1050" dirty="0"/>
          </a:p>
          <a:p>
            <a:pPr marL="171450" indent="-171450">
              <a:spcAft>
                <a:spcPts val="400"/>
              </a:spcAft>
              <a:buNone/>
            </a:pPr>
            <a:r>
              <a:rPr lang="en-US" sz="105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[18] Chawla et al., "SMOTE: Synthetic Minority Over-sampling Technique," JAIR, 2002.</a:t>
            </a:r>
            <a:endParaRPr lang="en-US" sz="1050" dirty="0"/>
          </a:p>
          <a:p>
            <a:pPr marL="171450" indent="-171450">
              <a:spcAft>
                <a:spcPts val="400"/>
              </a:spcAft>
              <a:buNone/>
            </a:pPr>
            <a:r>
              <a:rPr lang="en-US" sz="105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[19] rogue-security/prompt-injections-benchmark, Hugging Face (accessed May 2026).</a:t>
            </a:r>
            <a:endParaRPr lang="en-US" sz="1050" dirty="0"/>
          </a:p>
          <a:p>
            <a:pPr marL="171450" indent="-171450">
              <a:spcAft>
                <a:spcPts val="400"/>
              </a:spcAft>
              <a:buNone/>
            </a:pPr>
            <a:r>
              <a:rPr lang="en-US" sz="1050" dirty="0">
                <a:solidFill>
                  <a:srgbClr val="3B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[20] PIShield, GitHub repository, github.com/0x00K1/PIShield (accessed May 2026).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457200" y="3200400"/>
            <a:ext cx="1828800" cy="1828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0" y="457200"/>
            <a:ext cx="1828800" cy="1828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28269" y="73152"/>
            <a:ext cx="2087461" cy="19174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1828800" y="3017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2286000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522  |  Section 1  |  Team 7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286000" y="4206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Imam Abdulrahman Bin Faisal University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2713</Words>
  <Application>Microsoft Office PowerPoint</Application>
  <PresentationFormat>On-screen Show (16:9)</PresentationFormat>
  <Paragraphs>434</Paragraphs>
  <Slides>30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Securing LLM-Powered Code Assistants Against Prompt Injection Attacks Using Machine Learning</dc:title>
  <dc:subject>PptxGenJS Presentation</dc:subject>
  <dc:creator>Team 7 - Section 1</dc:creator>
  <cp:lastModifiedBy>مهند عبدالله المحمود</cp:lastModifiedBy>
  <cp:revision>1</cp:revision>
  <dcterms:created xsi:type="dcterms:W3CDTF">2026-04-05T08:20:41Z</dcterms:created>
  <dcterms:modified xsi:type="dcterms:W3CDTF">2026-05-29T20:34:24Z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196578f-6ae1-40cd-93dd-1a3b7a6ede66_Enabled">
    <vt:lpwstr>true</vt:lpwstr>
  </property>
  <property fmtid="{D5CDD505-2E9C-101B-9397-08002B2CF9AE}" pid="3" name="MSIP_Label_b196578f-6ae1-40cd-93dd-1a3b7a6ede66_SetDate">
    <vt:lpwstr>2026-04-05T09:29:12Z</vt:lpwstr>
  </property>
  <property fmtid="{D5CDD505-2E9C-101B-9397-08002B2CF9AE}" pid="4" name="MSIP_Label_b196578f-6ae1-40cd-93dd-1a3b7a6ede66_Method">
    <vt:lpwstr>Standard</vt:lpwstr>
  </property>
  <property fmtid="{D5CDD505-2E9C-101B-9397-08002B2CF9AE}" pid="5" name="MSIP_Label_b196578f-6ae1-40cd-93dd-1a3b7a6ede66_Name">
    <vt:lpwstr>Public - عام</vt:lpwstr>
  </property>
  <property fmtid="{D5CDD505-2E9C-101B-9397-08002B2CF9AE}" pid="6" name="MSIP_Label_b196578f-6ae1-40cd-93dd-1a3b7a6ede66_SiteId">
    <vt:lpwstr>2c86bbfc-8d04-41ff-a83a-942f075e0f60</vt:lpwstr>
  </property>
  <property fmtid="{D5CDD505-2E9C-101B-9397-08002B2CF9AE}" pid="7" name="MSIP_Label_b196578f-6ae1-40cd-93dd-1a3b7a6ede66_ActionId">
    <vt:lpwstr>2339ad41-1e37-4de8-b1d3-bd6a56019631</vt:lpwstr>
  </property>
  <property fmtid="{D5CDD505-2E9C-101B-9397-08002B2CF9AE}" pid="8" name="MSIP_Label_b196578f-6ae1-40cd-93dd-1a3b7a6ede66_ContentBits">
    <vt:lpwstr>0</vt:lpwstr>
  </property>
  <property fmtid="{D5CDD505-2E9C-101B-9397-08002B2CF9AE}" pid="9" name="MSIP_Label_b196578f-6ae1-40cd-93dd-1a3b7a6ede66_Tag">
    <vt:lpwstr>10, 3, 0, 1</vt:lpwstr>
  </property>
</Properties>
</file>